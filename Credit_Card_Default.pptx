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7" r:id="rId4"/>
    <p:sldId id="268" r:id="rId5"/>
    <p:sldId id="269" r:id="rId6"/>
    <p:sldId id="270" r:id="rId7"/>
    <p:sldId id="271" r:id="rId8"/>
    <p:sldId id="272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Default rate</c:v>
                </c:pt>
              </c:strCache>
            </c:strRef>
          </c:tx>
          <c:spPr>
            <a:solidFill>
              <a:srgbClr val="3465DB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21–30</c:v>
                </c:pt>
                <c:pt idx="1">
                  <c:v>31–40</c:v>
                </c:pt>
                <c:pt idx="2">
                  <c:v>41–50</c:v>
                </c:pt>
                <c:pt idx="3">
                  <c:v>51–60</c:v>
                </c:pt>
                <c:pt idx="4">
                  <c:v>61+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22.5</c:v>
                </c:pt>
                <c:pt idx="1">
                  <c:v>20.5</c:v>
                </c:pt>
                <c:pt idx="2">
                  <c:v>23.4</c:v>
                </c:pt>
                <c:pt idx="3">
                  <c:v>25.2</c:v>
                </c:pt>
                <c:pt idx="4">
                  <c:v>26.8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AD8-47FD-B021-AB4745A531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000">
                <a:solidFill>
                  <a:srgbClr val="1A314C"/>
                </a:solidFill>
              </a:defRPr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30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4F6880"/>
                </a:solidFill>
              </a:defRPr>
            </a:pPr>
            <a:endParaRPr lang="fr-FR"/>
          </a:p>
        </c:txPr>
        <c:crossAx val="-2068027336"/>
        <c:crosses val="autoZero"/>
        <c:crossBetween val="between"/>
        <c:majorUnit val="5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fr-F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Default rate</c:v>
                </c:pt>
              </c:strCache>
            </c:strRef>
          </c:tx>
          <c:spPr>
            <a:solidFill>
              <a:srgbClr val="3465DB"/>
            </a:solidFill>
            <a:ln>
              <a:noFill/>
            </a:ln>
          </c:spPr>
          <c:invertIfNegative val="1"/>
          <c:cat>
            <c:strRef>
              <c:f>Sheet1!$A$2:$A$12</c:f>
              <c:strCache>
                <c:ptCount val="11"/>
                <c:pt idx="0">
                  <c:v>-2</c:v>
                </c:pt>
                <c:pt idx="1">
                  <c:v>-1</c:v>
                </c:pt>
                <c:pt idx="2">
                  <c:v>0</c:v>
                </c:pt>
                <c:pt idx="3">
                  <c:v>1</c:v>
                </c:pt>
                <c:pt idx="4">
                  <c:v>2</c:v>
                </c:pt>
                <c:pt idx="5">
                  <c:v>3</c:v>
                </c:pt>
                <c:pt idx="6">
                  <c:v>4</c:v>
                </c:pt>
                <c:pt idx="7">
                  <c:v>5</c:v>
                </c:pt>
                <c:pt idx="8">
                  <c:v>6</c:v>
                </c:pt>
                <c:pt idx="9">
                  <c:v>7</c:v>
                </c:pt>
                <c:pt idx="10">
                  <c:v>8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13.5</c:v>
                </c:pt>
                <c:pt idx="1">
                  <c:v>16.8</c:v>
                </c:pt>
                <c:pt idx="2">
                  <c:v>13.1</c:v>
                </c:pt>
                <c:pt idx="3">
                  <c:v>34.200000000000003</c:v>
                </c:pt>
                <c:pt idx="4">
                  <c:v>69</c:v>
                </c:pt>
                <c:pt idx="5">
                  <c:v>76</c:v>
                </c:pt>
                <c:pt idx="6">
                  <c:v>68.3</c:v>
                </c:pt>
                <c:pt idx="7">
                  <c:v>50</c:v>
                </c:pt>
                <c:pt idx="8">
                  <c:v>54.7</c:v>
                </c:pt>
                <c:pt idx="9">
                  <c:v>77.8</c:v>
                </c:pt>
                <c:pt idx="10">
                  <c:v>58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821-4413-8A09-77FA324A89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000">
                <a:solidFill>
                  <a:srgbClr val="1A314C"/>
                </a:solidFill>
              </a:defRPr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85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4F6880"/>
                </a:solidFill>
              </a:defRPr>
            </a:pPr>
            <a:endParaRPr lang="fr-FR"/>
          </a:p>
        </c:txPr>
        <c:crossAx val="-2068027336"/>
        <c:crosses val="autoZero"/>
        <c:crossBetween val="between"/>
        <c:majorUnit val="10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fr-FR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3465DB"/>
            </a:solidFill>
            <a:ln>
              <a:noFill/>
            </a:ln>
          </c:spPr>
          <c:invertIfNegative val="1"/>
          <c:cat>
            <c:strRef>
              <c:f>Sheet1!$A$2:$A$8</c:f>
              <c:strCache>
                <c:ptCount val="7"/>
                <c:pt idx="0">
                  <c:v>1.0</c:v>
                </c:pt>
                <c:pt idx="1">
                  <c:v>1.5</c:v>
                </c:pt>
                <c:pt idx="2">
                  <c:v>2.0</c:v>
                </c:pt>
                <c:pt idx="3">
                  <c:v>2.5</c:v>
                </c:pt>
                <c:pt idx="4">
                  <c:v>3.0</c:v>
                </c:pt>
                <c:pt idx="5">
                  <c:v>3.52</c:v>
                </c:pt>
                <c:pt idx="6">
                  <c:v>4.0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67.430000000000007</c:v>
                </c:pt>
                <c:pt idx="1">
                  <c:v>62.13</c:v>
                </c:pt>
                <c:pt idx="2">
                  <c:v>56.75</c:v>
                </c:pt>
                <c:pt idx="3">
                  <c:v>52.61</c:v>
                </c:pt>
                <c:pt idx="4">
                  <c:v>49.2</c:v>
                </c:pt>
                <c:pt idx="5">
                  <c:v>45.98</c:v>
                </c:pt>
                <c:pt idx="6">
                  <c:v>43.66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DA83-4CAA-A528-D7997EF22B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F5A34A"/>
            </a:solidFill>
            <a:ln>
              <a:noFill/>
            </a:ln>
          </c:spPr>
          <c:invertIfNegative val="1"/>
          <c:cat>
            <c:strRef>
              <c:f>Sheet1!$A$2:$A$8</c:f>
              <c:strCache>
                <c:ptCount val="7"/>
                <c:pt idx="0">
                  <c:v>1.0</c:v>
                </c:pt>
                <c:pt idx="1">
                  <c:v>1.5</c:v>
                </c:pt>
                <c:pt idx="2">
                  <c:v>2.0</c:v>
                </c:pt>
                <c:pt idx="3">
                  <c:v>2.5</c:v>
                </c:pt>
                <c:pt idx="4">
                  <c:v>3.0</c:v>
                </c:pt>
                <c:pt idx="5">
                  <c:v>3.52</c:v>
                </c:pt>
                <c:pt idx="6">
                  <c:v>4.0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36.71</c:v>
                </c:pt>
                <c:pt idx="1">
                  <c:v>44.81</c:v>
                </c:pt>
                <c:pt idx="2">
                  <c:v>51.18</c:v>
                </c:pt>
                <c:pt idx="3">
                  <c:v>56.56</c:v>
                </c:pt>
                <c:pt idx="4">
                  <c:v>60.61</c:v>
                </c:pt>
                <c:pt idx="5">
                  <c:v>64.400000000000006</c:v>
                </c:pt>
                <c:pt idx="6">
                  <c:v>67.599999999999994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DA83-4CAA-A528-D7997EF22B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80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fr-FR"/>
          </a:p>
        </c:txPr>
        <c:crossAx val="-2068027336"/>
        <c:crosses val="autoZero"/>
        <c:crossBetween val="between"/>
        <c:majorUnit val="20"/>
      </c:valAx>
    </c:plotArea>
    <c:legend>
      <c:legendPos val="b"/>
      <c:overlay val="0"/>
      <c:txPr>
        <a:bodyPr/>
        <a:lstStyle/>
        <a:p>
          <a:pPr>
            <a:defRPr sz="1000"/>
          </a:pPr>
          <a:endParaRPr lang="fr-F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fr-FR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84455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D97B71-6F42-4D01-BF2B-A3EDF461B6E6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62604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2385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800000">
            <a:off x="6949440" y="-1920240"/>
            <a:ext cx="7406640" cy="7406640"/>
          </a:xfrm>
          <a:prstGeom prst="arc">
            <a:avLst/>
          </a:prstGeom>
          <a:solidFill>
            <a:srgbClr val="122B58">
              <a:alpha val="80000"/>
            </a:srgbClr>
          </a:solidFill>
          <a:ln w="25400">
            <a:solidFill>
              <a:srgbClr val="1D376A">
                <a:alpha val="8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58200" y="1188720"/>
            <a:ext cx="4846320" cy="4846320"/>
          </a:xfrm>
          <a:prstGeom prst="ellipse">
            <a:avLst/>
          </a:prstGeom>
          <a:solidFill>
            <a:srgbClr val="1E4384">
              <a:alpha val="5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68580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9DC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LEARNING PROJECT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49808" y="1307592"/>
            <a:ext cx="75895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Card Default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Analysis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&amp; Prediction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49808" y="4270248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CBD8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predictive modeling to actionable risk decisions </a:t>
            </a:r>
          </a:p>
          <a:p>
            <a:pPr marL="0" indent="0">
              <a:buNone/>
            </a:pPr>
            <a:r>
              <a:rPr lang="en-US" sz="1700" dirty="0">
                <a:solidFill>
                  <a:srgbClr val="CBD8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the UCI </a:t>
            </a:r>
            <a:r>
              <a:rPr lang="en-US" sz="1600" dirty="0">
                <a:solidFill>
                  <a:schemeClr val="bg1"/>
                </a:solidFill>
              </a:rPr>
              <a:t>Default of Credit Card Clients</a:t>
            </a:r>
            <a:endParaRPr lang="en-US" sz="1700" dirty="0">
              <a:solidFill>
                <a:schemeClr val="bg1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49808" y="5065776"/>
            <a:ext cx="3182112" cy="484632"/>
          </a:xfrm>
          <a:prstGeom prst="roundRect">
            <a:avLst>
              <a:gd name="adj" fmla="val 22642"/>
            </a:avLst>
          </a:prstGeom>
          <a:solidFill>
            <a:srgbClr val="11B6B0"/>
          </a:solidFill>
          <a:ln w="12700">
            <a:solidFill>
              <a:srgbClr val="11B6B0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516636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EDA  →  ML  →  BUSINESS IMPACT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 rot="-660000">
            <a:off x="8339328" y="1828800"/>
            <a:ext cx="3154680" cy="2029968"/>
          </a:xfrm>
          <a:prstGeom prst="roundRect">
            <a:avLst>
              <a:gd name="adj" fmla="val 9910"/>
            </a:avLst>
          </a:prstGeom>
          <a:solidFill>
            <a:srgbClr val="234D9A"/>
          </a:solidFill>
          <a:ln w="15240">
            <a:solidFill>
              <a:srgbClr val="5C8F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660000">
            <a:off x="8650224" y="2176272"/>
            <a:ext cx="475488" cy="374904"/>
          </a:xfrm>
          <a:prstGeom prst="roundRect">
            <a:avLst>
              <a:gd name="adj" fmla="val 24390"/>
            </a:avLst>
          </a:prstGeom>
          <a:solidFill>
            <a:srgbClr val="ECC77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 rot="-660000">
            <a:off x="9281160" y="21671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BANK  /  CREDIT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 rot="-660000">
            <a:off x="8659368" y="2953512"/>
            <a:ext cx="24231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F3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••••  ••••  ••••  4829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 rot="-660000">
            <a:off x="8869680" y="349300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C5EA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RISK MODEL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2668" y="5948431"/>
            <a:ext cx="267789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93A6C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</a:t>
            </a:r>
            <a:r>
              <a:rPr lang="fr-FR" altLang="zh-CN" sz="1400" dirty="0">
                <a:solidFill>
                  <a:srgbClr val="93A6C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</a:t>
            </a:r>
            <a:r>
              <a:rPr lang="en-US" altLang="zh-CN" sz="1400" dirty="0">
                <a:solidFill>
                  <a:srgbClr val="93A6C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r>
              <a:rPr lang="en-US" sz="1400" dirty="0">
                <a:solidFill>
                  <a:srgbClr val="93A6C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Analyst: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AILIXIER KUERBAN</a:t>
            </a:r>
            <a:endParaRPr lang="en-US" sz="1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14733"/>
            <a:ext cx="12191695" cy="1313181"/>
          </a:xfrm>
          <a:prstGeom prst="rect">
            <a:avLst/>
          </a:prstGeom>
          <a:solidFill>
            <a:schemeClr val="accent1"/>
          </a:solidFill>
          <a:ln w="12700">
            <a:solidFill>
              <a:srgbClr val="3465DB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640080" y="4154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Overview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594360" y="1444752"/>
            <a:ext cx="11018520" cy="0"/>
          </a:xfrm>
          <a:prstGeom prst="line">
            <a:avLst/>
          </a:prstGeom>
          <a:noFill/>
          <a:ln w="12700">
            <a:solidFill>
              <a:srgbClr val="DFE6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12648" y="1737360"/>
            <a:ext cx="3429000" cy="987552"/>
          </a:xfrm>
          <a:prstGeom prst="roundRect">
            <a:avLst>
              <a:gd name="adj" fmla="val 1574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612648" y="1737360"/>
            <a:ext cx="68580" cy="987552"/>
          </a:xfrm>
          <a:prstGeom prst="rect">
            <a:avLst/>
          </a:prstGeom>
          <a:solidFill>
            <a:srgbClr val="3465DB"/>
          </a:solidFill>
          <a:ln w="12700">
            <a:solidFill>
              <a:srgbClr val="3465DB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32104" y="1856232"/>
            <a:ext cx="3118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3465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30,000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832104" y="2359152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072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card clients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52544" y="1737360"/>
            <a:ext cx="3429000" cy="987552"/>
          </a:xfrm>
          <a:prstGeom prst="roundRect">
            <a:avLst>
              <a:gd name="adj" fmla="val 1574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352544" y="1737360"/>
            <a:ext cx="68580" cy="987552"/>
          </a:xfrm>
          <a:prstGeom prst="rect">
            <a:avLst/>
          </a:prstGeom>
          <a:solidFill>
            <a:srgbClr val="F5A34A"/>
          </a:solidFill>
          <a:ln w="12700">
            <a:solidFill>
              <a:srgbClr val="F5A34A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572000" y="1856232"/>
            <a:ext cx="3118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5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22.12%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4572000" y="2359152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072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 default rate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92440" y="1737360"/>
            <a:ext cx="3429000" cy="987552"/>
          </a:xfrm>
          <a:prstGeom prst="roundRect">
            <a:avLst>
              <a:gd name="adj" fmla="val 1574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8092440" y="1737360"/>
            <a:ext cx="68580" cy="987552"/>
          </a:xfrm>
          <a:prstGeom prst="rect">
            <a:avLst/>
          </a:prstGeom>
          <a:solidFill>
            <a:srgbClr val="11B6B0"/>
          </a:solidFill>
          <a:ln w="12700">
            <a:solidFill>
              <a:srgbClr val="11B6B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311896" y="1856232"/>
            <a:ext cx="3118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B6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month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8311896" y="2359152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072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target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2648" y="3017520"/>
            <a:ext cx="7040880" cy="2651760"/>
          </a:xfrm>
          <a:prstGeom prst="roundRect">
            <a:avLst>
              <a:gd name="adj" fmla="val 58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77824" y="33101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problem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77824" y="3785616"/>
            <a:ext cx="6263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6072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 payments create financial risk. Banks need to identify customers likely to default before the next billing cycle.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77824" y="47548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objective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77824" y="5148072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072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an interpretable classifier and evaluate how risk scores could guide customer reviews and interventions.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946136" y="3017520"/>
            <a:ext cx="3575304" cy="2651760"/>
          </a:xfrm>
          <a:prstGeom prst="roundRect">
            <a:avLst>
              <a:gd name="adj" fmla="val 5862"/>
            </a:avLst>
          </a:prstGeom>
          <a:solidFill>
            <a:srgbClr val="EDF2FF"/>
          </a:solidFill>
          <a:ln w="12700">
            <a:solidFill>
              <a:srgbClr val="EDF2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229600" y="330098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 workflow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229600" y="3758184"/>
            <a:ext cx="29443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357616" y="3803904"/>
            <a:ext cx="2651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QUALITY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229600" y="4169664"/>
            <a:ext cx="29443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8357616" y="4215384"/>
            <a:ext cx="2651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EDA + FEATURES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229600" y="4581144"/>
            <a:ext cx="29443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8357616" y="4626864"/>
            <a:ext cx="2651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TRAINING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229600" y="4992624"/>
            <a:ext cx="2944368" cy="310896"/>
          </a:xfrm>
          <a:prstGeom prst="roundRect">
            <a:avLst>
              <a:gd name="adj" fmla="val 23529"/>
            </a:avLst>
          </a:prstGeom>
          <a:solidFill>
            <a:srgbClr val="3465DB"/>
          </a:solidFill>
          <a:ln w="12700">
            <a:solidFill>
              <a:srgbClr val="3465DB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8357616" y="5038344"/>
            <a:ext cx="2651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DECISIONS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highlight>
                <a:srgbClr val="FFFF00"/>
              </a:highlight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29768" y="201168"/>
            <a:ext cx="10698480" cy="510909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rPr sz="3200" dirty="0">
                <a:solidFill>
                  <a:schemeClr val="bg1"/>
                </a:solidFill>
              </a:rPr>
              <a:t>Exploratory Data Analysis (EDA)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50392"/>
            <a:ext cx="896112" cy="50292"/>
          </a:xfrm>
          <a:prstGeom prst="rect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11480" y="1225296"/>
            <a:ext cx="5605272" cy="383133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11480" y="1225296"/>
            <a:ext cx="5605272" cy="466344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5294376" cy="280077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Default Rate by Age Group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30936" y="1783080"/>
          <a:ext cx="5175504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4581144"/>
            <a:ext cx="5257800" cy="365760"/>
          </a:xfrm>
          <a:prstGeom prst="roundRect">
            <a:avLst/>
          </a:prstGeom>
          <a:solidFill>
            <a:srgbClr val="EF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4944" y="4626864"/>
            <a:ext cx="5074920" cy="265176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 algn="ctr">
              <a:spcAft>
                <a:spcPts val="0"/>
              </a:spcAft>
              <a:defRPr sz="1060" b="0">
                <a:solidFill>
                  <a:srgbClr val="1A314C"/>
                </a:solidFill>
                <a:latin typeface="Aptos"/>
              </a:defRPr>
            </a:pPr>
            <a:r>
              <a:rPr>
                <a:solidFill/>
              </a:rPr>
              <a:t>Highest default rate: 61+ (~27%); lowest: 31–40 (~20%).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225296"/>
            <a:ext cx="5605272" cy="383133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163056" y="1225296"/>
            <a:ext cx="5605272" cy="466344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45936" y="1307592"/>
            <a:ext cx="5294376" cy="280077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Default Rate by Recent Repayment Status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382512" y="1783080"/>
          <a:ext cx="5175504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6345936" y="4581144"/>
            <a:ext cx="5257800" cy="365760"/>
          </a:xfrm>
          <a:prstGeom prst="roundRect">
            <a:avLst/>
          </a:prstGeom>
          <a:solidFill>
            <a:srgbClr val="EF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4626864"/>
            <a:ext cx="5074920" cy="265176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 algn="ctr">
              <a:spcAft>
                <a:spcPts val="0"/>
              </a:spcAft>
              <a:defRPr sz="1060" b="0">
                <a:solidFill>
                  <a:srgbClr val="1A314C"/>
                </a:solidFill>
                <a:latin typeface="Aptos"/>
              </a:defRPr>
            </a:pPr>
            <a:r>
              <a:rPr>
                <a:solidFill/>
              </a:rPr>
              <a:t>Recent repayment status is strongly associated with default risk.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5120640"/>
            <a:ext cx="11356848" cy="1664208"/>
          </a:xfrm>
          <a:prstGeom prst="roundRect">
            <a:avLst/>
          </a:prstGeom>
          <a:solidFill>
            <a:srgbClr val="F4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1480" y="5120640"/>
            <a:ext cx="11356848" cy="338328"/>
          </a:xfrm>
          <a:prstGeom prst="rect">
            <a:avLst/>
          </a:prstGeom>
          <a:solidFill>
            <a:srgbClr val="0E3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" y="5166360"/>
            <a:ext cx="6400800" cy="243656"/>
          </a:xfrm>
          <a:prstGeom prst="rect">
            <a:avLst/>
          </a:prstGeom>
          <a:noFill/>
        </p:spPr>
        <p:txBody>
          <a:bodyPr wrap="square" lIns="12700" tIns="12700" rIns="1270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KEY TAKEAWAYS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9904" y="5522976"/>
            <a:ext cx="11887" cy="1152144"/>
          </a:xfrm>
          <a:prstGeom prst="rect">
            <a:avLst/>
          </a:prstGeom>
          <a:solidFill>
            <a:srgbClr val="A7C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40080" y="5586984"/>
            <a:ext cx="256032" cy="256032"/>
          </a:xfrm>
          <a:prstGeom prst="ellipse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5" y="5550408"/>
            <a:ext cx="4690872" cy="366767"/>
          </a:xfrm>
          <a:prstGeom prst="rect">
            <a:avLst/>
          </a:prstGeom>
          <a:noFill/>
        </p:spPr>
        <p:txBody>
          <a:bodyPr wrap="square" lIns="12700" tIns="12700" rIns="12700" bIns="0">
            <a:spAutoFit/>
          </a:bodyPr>
          <a:lstStyle/>
          <a:p>
            <a:pPr>
              <a:defRPr sz="1150" b="0">
                <a:solidFill>
                  <a:srgbClr val="173354"/>
                </a:solidFill>
                <a:latin typeface="Aptos"/>
              </a:defRPr>
            </a:pPr>
            <a:r>
              <a:rPr lang="en-US" dirty="0"/>
              <a:t>Default rates vary across age groups, with the highest observed rate among customers aged 61+</a:t>
            </a:r>
            <a:endParaRPr dirty="0">
              <a:solidFill/>
            </a:endParaRPr>
          </a:p>
        </p:txBody>
      </p:sp>
      <p:sp>
        <p:nvSpPr>
          <p:cNvPr id="23" name="Oval 22"/>
          <p:cNvSpPr/>
          <p:nvPr/>
        </p:nvSpPr>
        <p:spPr>
          <a:xfrm>
            <a:off x="640080" y="6199632"/>
            <a:ext cx="256032" cy="256032"/>
          </a:xfrm>
          <a:prstGeom prst="ellipse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95" y="6163056"/>
            <a:ext cx="4690872" cy="384048"/>
          </a:xfrm>
          <a:prstGeom prst="rect">
            <a:avLst/>
          </a:prstGeom>
          <a:noFill/>
        </p:spPr>
        <p:txBody>
          <a:bodyPr wrap="square" lIns="12700" tIns="12700" rIns="12700" bIns="0">
            <a:spAutoFit/>
          </a:bodyPr>
          <a:lstStyle/>
          <a:p>
            <a:pPr>
              <a:defRPr sz="1150" b="0">
                <a:solidFill>
                  <a:srgbClr val="173354"/>
                </a:solidFill>
                <a:latin typeface="Aptos"/>
              </a:defRPr>
            </a:pPr>
            <a:r>
              <a:rPr>
                <a:solidFill/>
              </a:rPr>
              <a:t>Customers aged 31–40 show the lowest default rate (~20%).</a:t>
            </a:r>
          </a:p>
        </p:txBody>
      </p:sp>
      <p:sp>
        <p:nvSpPr>
          <p:cNvPr id="25" name="Oval 24"/>
          <p:cNvSpPr/>
          <p:nvPr/>
        </p:nvSpPr>
        <p:spPr>
          <a:xfrm>
            <a:off x="6309360" y="5559552"/>
            <a:ext cx="256032" cy="256032"/>
          </a:xfrm>
          <a:prstGeom prst="ellipse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5976" y="5522976"/>
            <a:ext cx="4754880" cy="338328"/>
          </a:xfrm>
          <a:prstGeom prst="rect">
            <a:avLst/>
          </a:prstGeom>
          <a:noFill/>
        </p:spPr>
        <p:txBody>
          <a:bodyPr wrap="square" lIns="12700" tIns="12700" rIns="12700" bIns="0">
            <a:spAutoFit/>
          </a:bodyPr>
          <a:lstStyle/>
          <a:p>
            <a:pPr>
              <a:defRPr sz="1150" b="0">
                <a:solidFill>
                  <a:srgbClr val="173354"/>
                </a:solidFill>
                <a:latin typeface="Aptos"/>
              </a:defRPr>
            </a:pPr>
            <a:r>
              <a:rPr>
                <a:solidFill/>
              </a:rPr>
              <a:t>Recent repayment status is strongly associated with default risk.</a:t>
            </a:r>
          </a:p>
        </p:txBody>
      </p:sp>
      <p:sp>
        <p:nvSpPr>
          <p:cNvPr id="27" name="Oval 26"/>
          <p:cNvSpPr/>
          <p:nvPr/>
        </p:nvSpPr>
        <p:spPr>
          <a:xfrm>
            <a:off x="6309360" y="5943600"/>
            <a:ext cx="256032" cy="256032"/>
          </a:xfrm>
          <a:prstGeom prst="ellipse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5976" y="5907024"/>
            <a:ext cx="4754880" cy="448056"/>
          </a:xfrm>
          <a:prstGeom prst="rect">
            <a:avLst/>
          </a:prstGeom>
          <a:noFill/>
        </p:spPr>
        <p:txBody>
          <a:bodyPr wrap="square" lIns="12700" tIns="12700" rIns="12700" bIns="0">
            <a:spAutoFit/>
          </a:bodyPr>
          <a:lstStyle/>
          <a:p>
            <a:pPr>
              <a:defRPr sz="1150" b="0">
                <a:solidFill>
                  <a:srgbClr val="173354"/>
                </a:solidFill>
                <a:latin typeface="Aptos"/>
              </a:defRPr>
            </a:pPr>
            <a:r>
              <a:rPr>
                <a:solidFill/>
              </a:rPr>
              <a:t>Higher delinquency levels (especially PAY_0 = 2, 3, 4, and 7) correspond to much higher default rates.</a:t>
            </a:r>
          </a:p>
        </p:txBody>
      </p:sp>
      <p:sp>
        <p:nvSpPr>
          <p:cNvPr id="29" name="Oval 28"/>
          <p:cNvSpPr/>
          <p:nvPr/>
        </p:nvSpPr>
        <p:spPr>
          <a:xfrm>
            <a:off x="6309360" y="6419088"/>
            <a:ext cx="256032" cy="256032"/>
          </a:xfrm>
          <a:prstGeom prst="ellipse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5976" y="6382512"/>
            <a:ext cx="4754880" cy="365760"/>
          </a:xfrm>
          <a:prstGeom prst="rect">
            <a:avLst/>
          </a:prstGeom>
          <a:noFill/>
        </p:spPr>
        <p:txBody>
          <a:bodyPr wrap="square" lIns="12700" tIns="12700" rIns="12700" bIns="0">
            <a:spAutoFit/>
          </a:bodyPr>
          <a:lstStyle/>
          <a:p>
            <a:pPr>
              <a:defRPr sz="1150" b="0">
                <a:solidFill>
                  <a:srgbClr val="173354"/>
                </a:solidFill>
                <a:latin typeface="Aptos"/>
              </a:defRPr>
            </a:pPr>
            <a:r>
              <a:rPr>
                <a:solidFill/>
              </a:rPr>
              <a:t>Customers with normal or better recent repayment status (-2 to 0) have much lower default rates.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3210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10896" y="95048"/>
            <a:ext cx="11612880" cy="572464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2800" b="1">
                <a:solidFill>
                  <a:srgbClr val="123958"/>
                </a:solidFill>
                <a:latin typeface="Aptos"/>
              </a:defRPr>
            </a:pPr>
            <a:r>
              <a:rPr sz="3600" dirty="0">
                <a:solidFill>
                  <a:schemeClr val="bg1"/>
                </a:solidFill>
              </a:rPr>
              <a:t>Preprocessing &amp; Feature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832104"/>
            <a:ext cx="10698480" cy="219456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97083"/>
                </a:solidFill>
                <a:latin typeface="Aptos"/>
              </a:defRPr>
            </a:pPr>
            <a:r>
              <a:rPr>
                <a:solidFill/>
              </a:rPr>
              <a:t>From raw customer records to model-ready credit risk signals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" y="1170432"/>
            <a:ext cx="2450592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84632" y="1362456"/>
            <a:ext cx="685800" cy="429768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2700" b="1">
                <a:solidFill>
                  <a:srgbClr val="2675B5"/>
                </a:solidFill>
                <a:latin typeface="Aptos"/>
              </a:defRPr>
            </a:pPr>
            <a:r>
              <a:rPr dirty="0">
                <a:solidFill>
                  <a:schemeClr val="tx2"/>
                </a:solidFill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" y="1408176"/>
            <a:ext cx="1417320" cy="411480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97083"/>
                </a:solidFill>
                <a:latin typeface="Aptos"/>
              </a:defRPr>
            </a:pPr>
            <a:r>
              <a:rPr>
                <a:solidFill/>
              </a:rPr>
              <a:t>original predictors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6704" y="1170432"/>
            <a:ext cx="2450592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20440" y="1362456"/>
            <a:ext cx="685800" cy="429768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2700" b="1">
                <a:solidFill>
                  <a:srgbClr val="EF8538"/>
                </a:solidFill>
                <a:latin typeface="Aptos"/>
              </a:defRPr>
            </a:pPr>
            <a:r>
              <a:rPr dirty="0">
                <a:solidFill>
                  <a:schemeClr val="accent1"/>
                </a:solidFill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15384" y="1408176"/>
            <a:ext cx="1417320" cy="411480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97083"/>
                </a:solidFill>
                <a:latin typeface="Aptos"/>
              </a:defRPr>
            </a:pPr>
            <a:r>
              <a:rPr>
                <a:solidFill/>
              </a:rPr>
              <a:t>engineered features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1170432"/>
            <a:ext cx="2450592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56248" y="1362456"/>
            <a:ext cx="685800" cy="429768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2700" b="1">
                <a:solidFill>
                  <a:srgbClr val="123958"/>
                </a:solidFill>
                <a:latin typeface="Aptos"/>
              </a:defRPr>
            </a:pPr>
            <a:r>
              <a:rPr dirty="0"/>
              <a:t>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51192" y="1408176"/>
            <a:ext cx="1417320" cy="411480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97083"/>
                </a:solidFill>
                <a:latin typeface="Aptos"/>
              </a:defRPr>
            </a:pPr>
            <a:r>
              <a:rPr>
                <a:solidFill/>
              </a:rPr>
              <a:t>before encoding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18320" y="1170432"/>
            <a:ext cx="2450592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592056" y="1362456"/>
            <a:ext cx="685800" cy="429768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2700" b="1">
                <a:solidFill>
                  <a:srgbClr val="188D8F"/>
                </a:solidFill>
                <a:latin typeface="Aptos"/>
              </a:defRPr>
            </a:pPr>
            <a:r>
              <a:rPr dirty="0">
                <a:solidFill>
                  <a:schemeClr val="accent2"/>
                </a:solidFill>
              </a:rPr>
              <a:t>39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1408176"/>
            <a:ext cx="1417320" cy="411480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97083"/>
                </a:solidFill>
                <a:latin typeface="Aptos"/>
              </a:defRPr>
            </a:pPr>
            <a:r>
              <a:rPr>
                <a:solidFill/>
              </a:rPr>
              <a:t>after one-hot encoding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2928" y="1353312"/>
            <a:ext cx="512064" cy="411480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 algn="ctr">
              <a:spcAft>
                <a:spcPts val="100"/>
              </a:spcAft>
              <a:defRPr sz="2500" b="1">
                <a:solidFill>
                  <a:srgbClr val="597083"/>
                </a:solidFill>
                <a:latin typeface="Aptos"/>
              </a:defRPr>
            </a:pPr>
            <a:r>
              <a:rPr>
                <a:solidFill/>
              </a:rPr>
              <a:t>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0448" y="1353312"/>
            <a:ext cx="512064" cy="411480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 algn="ctr">
              <a:spcAft>
                <a:spcPts val="100"/>
              </a:spcAft>
              <a:defRPr sz="2500" b="1">
                <a:solidFill>
                  <a:srgbClr val="597083"/>
                </a:solidFill>
                <a:latin typeface="Aptos"/>
              </a:defRPr>
            </a:pPr>
            <a:r>
              <a:rPr>
                <a:solidFill/>
              </a:rPr>
              <a:t>=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1353312"/>
            <a:ext cx="512064" cy="411480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 algn="ctr">
              <a:spcAft>
                <a:spcPts val="100"/>
              </a:spcAft>
              <a:defRPr sz="2500" b="1">
                <a:solidFill>
                  <a:srgbClr val="597083"/>
                </a:solidFill>
                <a:latin typeface="Aptos"/>
              </a:defRPr>
            </a:pPr>
            <a:r>
              <a:rPr>
                <a:solidFill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0896" y="2267712"/>
            <a:ext cx="379476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11480" y="2395728"/>
            <a:ext cx="50292" cy="704088"/>
          </a:xfrm>
          <a:prstGeom prst="rect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30352" y="2386584"/>
            <a:ext cx="3419856" cy="187744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2675B5"/>
                </a:solidFill>
                <a:latin typeface="Aptos"/>
              </a:defRPr>
            </a:pPr>
            <a:r>
              <a:rPr dirty="0">
                <a:solidFill>
                  <a:schemeClr val="accent1"/>
                </a:solidFill>
              </a:rPr>
              <a:t>BILL BEHAVIOR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2660904"/>
            <a:ext cx="3419856" cy="521207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avg_bill_amount</a:t>
            </a:r>
          </a:p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Mean bill balance across 6 months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34256" y="2267712"/>
            <a:ext cx="379476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434840" y="2395728"/>
            <a:ext cx="50292" cy="704088"/>
          </a:xfrm>
          <a:prstGeom prst="rect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53712" y="2386584"/>
            <a:ext cx="3419856" cy="187744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2675B5"/>
                </a:solidFill>
                <a:latin typeface="Aptos"/>
              </a:defRPr>
            </a:pPr>
            <a:r>
              <a:rPr dirty="0">
                <a:solidFill>
                  <a:schemeClr val="accent1"/>
                </a:solidFill>
              </a:rPr>
              <a:t>PAYMENT BEHAVIOR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2660904"/>
            <a:ext cx="3419856" cy="521207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avg_payment_amount</a:t>
            </a:r>
          </a:p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Mean payment across 6 months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57616" y="2267712"/>
            <a:ext cx="379476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458200" y="2395728"/>
            <a:ext cx="50292" cy="704088"/>
          </a:xfrm>
          <a:prstGeom prst="rect">
            <a:avLst/>
          </a:prstGeom>
          <a:solidFill>
            <a:srgbClr val="F5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577072" y="2386584"/>
            <a:ext cx="3419856" cy="187744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EF8538"/>
                </a:solidFill>
                <a:latin typeface="Aptos"/>
              </a:defRPr>
            </a:pPr>
            <a:r>
              <a:rPr dirty="0">
                <a:solidFill>
                  <a:schemeClr val="accent1"/>
                </a:solidFill>
              </a:rPr>
              <a:t>REPAYMENT COVERAGE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77072" y="2660904"/>
            <a:ext cx="3419856" cy="521207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payment_to_bill_ratio</a:t>
            </a:r>
          </a:p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Payments ÷ positive bill totals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0896" y="3401568"/>
            <a:ext cx="379476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11480" y="3529584"/>
            <a:ext cx="50292" cy="704088"/>
          </a:xfrm>
          <a:prstGeom prst="rect">
            <a:avLst/>
          </a:prstGeom>
          <a:solidFill>
            <a:srgbClr val="F5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0352" y="3520439"/>
            <a:ext cx="3419856" cy="187744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EF8538"/>
                </a:solidFill>
                <a:latin typeface="Aptos"/>
              </a:defRPr>
            </a:pPr>
            <a:r>
              <a:rPr dirty="0">
                <a:solidFill>
                  <a:schemeClr val="accent2"/>
                </a:solidFill>
              </a:rPr>
              <a:t>CREDIT EXPOSURE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3794759"/>
            <a:ext cx="3419856" cy="521207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credit_utilization</a:t>
            </a:r>
          </a:p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Recent bill ÷ credit limit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34256" y="3401568"/>
            <a:ext cx="379476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434840" y="3529584"/>
            <a:ext cx="50292" cy="704088"/>
          </a:xfrm>
          <a:prstGeom prst="rect">
            <a:avLst/>
          </a:prstGeom>
          <a:solidFill>
            <a:srgbClr val="11B6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53712" y="3520439"/>
            <a:ext cx="3419856" cy="187744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188D8F"/>
                </a:solidFill>
                <a:latin typeface="Aptos"/>
              </a:defRPr>
            </a:pPr>
            <a:r>
              <a:rPr dirty="0">
                <a:solidFill>
                  <a:schemeClr val="accent2"/>
                </a:solidFill>
              </a:rPr>
              <a:t>DELINQUENCY SEVERITY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3712" y="3794759"/>
            <a:ext cx="3419856" cy="521207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max_payment_delay</a:t>
            </a:r>
          </a:p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Maximum repayment-status code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57616" y="3401568"/>
            <a:ext cx="379476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458200" y="3529584"/>
            <a:ext cx="50292" cy="704088"/>
          </a:xfrm>
          <a:prstGeom prst="rect">
            <a:avLst/>
          </a:prstGeom>
          <a:solidFill>
            <a:srgbClr val="11B6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577072" y="3520439"/>
            <a:ext cx="3419856" cy="187744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188D8F"/>
                </a:solidFill>
                <a:latin typeface="Aptos"/>
              </a:defRPr>
            </a:pPr>
            <a:r>
              <a:rPr dirty="0">
                <a:solidFill>
                  <a:schemeClr val="accent2"/>
                </a:solidFill>
              </a:rPr>
              <a:t>DELINQUENCY FREQUENCY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77072" y="3794759"/>
            <a:ext cx="3419856" cy="521207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months_with_delay</a:t>
            </a:r>
          </a:p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Number of months with delay &gt; 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0896" y="4645152"/>
            <a:ext cx="11567160" cy="1078992"/>
          </a:xfrm>
          <a:prstGeom prst="roundRect">
            <a:avLst/>
          </a:prstGeom>
          <a:solidFill>
            <a:srgbClr val="E8F1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02920" y="4773168"/>
            <a:ext cx="11082528" cy="246888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500" b="1">
                <a:solidFill>
                  <a:srgbClr val="123958"/>
                </a:solidFill>
                <a:latin typeface="Aptos"/>
              </a:defRPr>
            </a:pPr>
            <a:r>
              <a:rPr dirty="0">
                <a:solidFill>
                  <a:schemeClr val="accent1">
                    <a:lumMod val="75000"/>
                  </a:schemeClr>
                </a:solidFill>
              </a:rPr>
              <a:t>Leakage-safe preprocessing pipeline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5166360"/>
            <a:ext cx="10991088" cy="203133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 lang="fr-FR" sz="1200" dirty="0"/>
              <a:t>Train-</a:t>
            </a:r>
            <a:r>
              <a:rPr lang="fr-FR" sz="1200" dirty="0" err="1"/>
              <a:t>only</a:t>
            </a:r>
            <a:r>
              <a:rPr lang="fr-FR" sz="1200" dirty="0"/>
              <a:t> </a:t>
            </a:r>
            <a:r>
              <a:rPr lang="fr-FR" sz="1200" dirty="0" err="1"/>
              <a:t>preprocessing</a:t>
            </a:r>
            <a:r>
              <a:rPr lang="fr-FR" sz="1200" dirty="0"/>
              <a:t> → </a:t>
            </a:r>
            <a:r>
              <a:rPr lang="fr-FR" sz="1200" dirty="0" err="1"/>
              <a:t>Median</a:t>
            </a:r>
            <a:r>
              <a:rPr lang="fr-FR" sz="1200" dirty="0"/>
              <a:t> / mode imputation → </a:t>
            </a:r>
            <a:r>
              <a:rPr lang="fr-FR" sz="1200" dirty="0" err="1"/>
              <a:t>StandardScaler</a:t>
            </a:r>
            <a:r>
              <a:rPr lang="fr-FR" sz="1200" dirty="0"/>
              <a:t> + </a:t>
            </a:r>
            <a:r>
              <a:rPr lang="fr-FR" sz="1200" dirty="0" err="1"/>
              <a:t>One-Hot</a:t>
            </a:r>
            <a:r>
              <a:rPr lang="fr-FR" sz="1200" dirty="0"/>
              <a:t> </a:t>
            </a:r>
            <a:r>
              <a:rPr lang="fr-FR" sz="1200" dirty="0" err="1"/>
              <a:t>Encoding</a:t>
            </a:r>
            <a:endParaRPr sz="1200" dirty="0">
              <a:solidFill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310896" y="5916168"/>
            <a:ext cx="11567160" cy="667512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93776" y="6025896"/>
            <a:ext cx="11045952" cy="233910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123958"/>
                </a:solidFill>
                <a:latin typeface="Aptos"/>
              </a:defRPr>
            </a:pPr>
            <a:r>
              <a:rPr lang="en-US" sz="1400" dirty="0"/>
              <a:t>DATA QUALITY — No missing or infinite values after transformation • Preprocessing fitted on training data only</a:t>
            </a:r>
            <a:endParaRPr sz="1400" dirty="0">
              <a:solidFill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9496" y="950976"/>
            <a:ext cx="10972800" cy="256032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Three complementary classifiers  •  Stratified evaluation  •  F1-led model selection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89888"/>
            <a:ext cx="3794760" cy="287121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75488" y="1627632"/>
            <a:ext cx="603504" cy="603504"/>
          </a:xfrm>
          <a:prstGeom prst="roundRect">
            <a:avLst>
              <a:gd name="adj" fmla="val 9000"/>
            </a:avLst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21208" y="1792224"/>
            <a:ext cx="530352" cy="219456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SGD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1627632"/>
            <a:ext cx="2779776" cy="411480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0283E"/>
                </a:solidFill>
                <a:latin typeface="Aptos"/>
              </a:defRPr>
            </a:pPr>
            <a:r>
              <a:rPr>
                <a:solidFill/>
              </a:rPr>
              <a:t>SGDClassifier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31720"/>
            <a:ext cx="3383280" cy="237744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37DBB"/>
                </a:solidFill>
                <a:latin typeface="Aptos"/>
              </a:defRPr>
            </a:pPr>
            <a:r>
              <a:rPr>
                <a:solidFill/>
              </a:rPr>
              <a:t>LINEAR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79192"/>
            <a:ext cx="3310128" cy="566928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Fast logistic-loss classifier trained with stochastic gradient descent.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300984"/>
            <a:ext cx="3328416" cy="438912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14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Standardised numeric inputs • interpretable linear decision boundary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" y="3831336"/>
            <a:ext cx="54864" cy="274320"/>
          </a:xfrm>
          <a:prstGeom prst="rect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803904"/>
            <a:ext cx="3182112" cy="356616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050" b="1">
                <a:solidFill>
                  <a:srgbClr val="10283E"/>
                </a:solidFill>
                <a:latin typeface="Aptos"/>
              </a:defRPr>
            </a:pPr>
            <a:r>
              <a:rPr>
                <a:solidFill/>
              </a:rPr>
              <a:t>A simple reference model for evaluating added complexity.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87952" y="1389888"/>
            <a:ext cx="3794760" cy="287121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389120" y="1627632"/>
            <a:ext cx="603504" cy="603504"/>
          </a:xfrm>
          <a:prstGeom prst="roundRect">
            <a:avLst>
              <a:gd name="adj" fmla="val 9000"/>
            </a:avLst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34840" y="1792224"/>
            <a:ext cx="530352" cy="219456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RF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1627632"/>
            <a:ext cx="2779776" cy="411480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0283E"/>
                </a:solidFill>
                <a:latin typeface="Aptos"/>
              </a:defRPr>
            </a:pPr>
            <a:r>
              <a:rPr>
                <a:solidFill/>
              </a:rPr>
              <a:t>Random Forest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2" y="2331720"/>
            <a:ext cx="3383280" cy="237744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37DBB"/>
                </a:solidFill>
                <a:latin typeface="Aptos"/>
              </a:defRPr>
            </a:pPr>
            <a:r>
              <a:rPr>
                <a:solidFill/>
              </a:rPr>
              <a:t>NON-LINEAR BENCHMARK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6552" y="2679192"/>
            <a:ext cx="3310128" cy="566928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Ensemble of 200 decision trees using bootstrap aggregation.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3300984"/>
            <a:ext cx="3328416" cy="438912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14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Captures nonlinear patterns and feature interactions.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98264" y="3831336"/>
            <a:ext cx="54864" cy="274320"/>
          </a:xfrm>
          <a:prstGeom prst="rect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53712" y="3803904"/>
            <a:ext cx="3182112" cy="356616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050" b="1">
                <a:solidFill>
                  <a:srgbClr val="10283E"/>
                </a:solidFill>
                <a:latin typeface="Aptos"/>
              </a:defRPr>
            </a:pPr>
            <a:r>
              <a:rPr>
                <a:solidFill/>
              </a:rPr>
              <a:t>Compare predictive gains against the risk of overfitting.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1389888"/>
            <a:ext cx="3794760" cy="287121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302752" y="1627632"/>
            <a:ext cx="603504" cy="603504"/>
          </a:xfrm>
          <a:prstGeom prst="roundRect">
            <a:avLst>
              <a:gd name="adj" fmla="val 9000"/>
            </a:avLst>
          </a:prstGeom>
          <a:solidFill>
            <a:srgbClr val="92D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48471" y="1792224"/>
            <a:ext cx="530352" cy="219456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XGB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34272" y="1627632"/>
            <a:ext cx="2779776" cy="411480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0283E"/>
                </a:solidFill>
                <a:latin typeface="Aptos"/>
              </a:defRPr>
            </a:pPr>
            <a:r>
              <a:rPr>
                <a:solidFill/>
              </a:rPr>
              <a:t>XGBoost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0183" y="2331720"/>
            <a:ext cx="3383280" cy="237744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F58B25"/>
                </a:solidFill>
                <a:latin typeface="Aptos"/>
              </a:defRPr>
            </a:pPr>
            <a:r>
              <a:rPr>
                <a:solidFill/>
              </a:rPr>
              <a:t>BOOSTED TREES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0183" y="2679192"/>
            <a:ext cx="3310128" cy="566928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Sequential gradient-boosted trees for binary default prediction.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0183" y="3300984"/>
            <a:ext cx="3328416" cy="438912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14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Models complex interactions; supports parameter search and class weighting.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11896" y="3831336"/>
            <a:ext cx="54864" cy="27432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467344" y="3803904"/>
            <a:ext cx="3182112" cy="356616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050" b="1">
                <a:solidFill>
                  <a:srgbClr val="10283E"/>
                </a:solidFill>
                <a:latin typeface="Aptos"/>
              </a:defRPr>
            </a:pPr>
            <a:r>
              <a:rPr>
                <a:solidFill/>
              </a:rPr>
              <a:t>Chosen for further tuning and cost-sensitive evaluation.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" y="4462272"/>
            <a:ext cx="5742432" cy="20299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172200" y="4462272"/>
            <a:ext cx="5742432" cy="20299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0352" y="4608576"/>
            <a:ext cx="5303520" cy="411480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10283E"/>
                </a:solidFill>
                <a:latin typeface="Aptos"/>
              </a:defRPr>
            </a:pPr>
            <a:r>
              <a:rPr>
                <a:solidFill/>
              </a:rPr>
              <a:t>◉  Evaluation Metrics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96" y="5074920"/>
            <a:ext cx="5285232" cy="384048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260" b="1">
                <a:solidFill>
                  <a:srgbClr val="10283E"/>
                </a:solidFill>
                <a:latin typeface="Aptos"/>
              </a:defRPr>
            </a:pPr>
            <a:r>
              <a:rPr>
                <a:solidFill/>
              </a:rPr>
              <a:t>F1-score  •  primary tuning objective: balances Precision and Recall.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9496" y="5449824"/>
            <a:ext cx="5276088" cy="923544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17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Recall measures detected defaults; Precision limits false alerts.</a:t>
            </a:r>
          </a:p>
          <a:p>
            <a:pPr>
              <a:spcAft>
                <a:spcPts val="500"/>
              </a:spcAft>
              <a:defRPr sz="117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ROC-AUC checks probability ranking; confusion matrix reveals FN/FP.</a:t>
            </a:r>
          </a:p>
          <a:p>
            <a:pPr>
              <a:spcAft>
                <a:spcPts val="500"/>
              </a:spcAft>
              <a:defRPr sz="117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Accuracy is secondary: only 22.12% of customers default.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28232" y="4608576"/>
            <a:ext cx="5212080" cy="411480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10283E"/>
                </a:solidFill>
                <a:latin typeface="Aptos"/>
              </a:defRPr>
            </a:pPr>
            <a:r>
              <a:rPr>
                <a:solidFill/>
              </a:rPr>
              <a:t>▣  Validation Design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7376" y="4942165"/>
            <a:ext cx="5029200" cy="310896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0283E"/>
                </a:solidFill>
                <a:latin typeface="Aptos"/>
              </a:defRPr>
            </a:pPr>
            <a:r>
              <a:rPr dirty="0">
                <a:solidFill/>
              </a:rPr>
              <a:t>80 / 20 stratified train–test split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37376" y="5353645"/>
            <a:ext cx="5239512" cy="940257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170" b="0">
                <a:solidFill>
                  <a:srgbClr val="52657B"/>
                </a:solidFill>
                <a:latin typeface="Aptos"/>
              </a:defRPr>
            </a:pPr>
            <a:r>
              <a:rPr dirty="0">
                <a:solidFill/>
              </a:rPr>
              <a:t>24,000 training rows  |  6,000 held-out test rows</a:t>
            </a:r>
          </a:p>
          <a:p>
            <a:pPr>
              <a:spcAft>
                <a:spcPts val="500"/>
              </a:spcAft>
              <a:defRPr sz="1170" b="0">
                <a:solidFill>
                  <a:srgbClr val="52657B"/>
                </a:solidFill>
                <a:latin typeface="Aptos"/>
              </a:defRPr>
            </a:pPr>
            <a:r>
              <a:rPr dirty="0">
                <a:solidFill/>
              </a:rPr>
              <a:t>3-fold Stratified CV for Random &amp; Grid Search (F1).</a:t>
            </a:r>
          </a:p>
          <a:p>
            <a:pPr>
              <a:spcAft>
                <a:spcPts val="500"/>
              </a:spcAft>
              <a:defRPr sz="1170" b="0">
                <a:solidFill>
                  <a:srgbClr val="52657B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5-fold Stratified CV to assess tuned-model stability.</a:t>
            </a:r>
            <a:endParaRPr lang="fr-FR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spcAft>
                <a:spcPts val="500"/>
              </a:spcAft>
              <a:defRPr sz="1170" b="0">
                <a:solidFill>
                  <a:srgbClr val="52657B"/>
                </a:solidFill>
                <a:latin typeface="Aptos"/>
              </a:defRPr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Training-only CV for tuning; final performance reported on held-out test set.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02336" y="6611112"/>
            <a:ext cx="10058400" cy="182880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Credit card default prediction   •   Target: 1 = Default / 0 = No Default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3EEB635-180A-473C-B0A6-A06C388F0EC6}"/>
              </a:ext>
            </a:extLst>
          </p:cNvPr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5" name="TextBox 3">
            <a:extLst>
              <a:ext uri="{FF2B5EF4-FFF2-40B4-BE49-F238E27FC236}">
                <a16:creationId xmlns:a16="http://schemas.microsoft.com/office/drawing/2014/main" id="{F31DAAB6-62BD-4A63-A355-9F8CDB678DD0}"/>
              </a:ext>
            </a:extLst>
          </p:cNvPr>
          <p:cNvSpPr txBox="1"/>
          <p:nvPr/>
        </p:nvSpPr>
        <p:spPr>
          <a:xfrm>
            <a:off x="475488" y="192557"/>
            <a:ext cx="10972800" cy="520142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0283E"/>
                </a:solidFill>
                <a:latin typeface="Aptos"/>
              </a:defRPr>
            </a:pPr>
            <a:r>
              <a:rPr sz="3200" dirty="0">
                <a:solidFill>
                  <a:schemeClr val="bg1"/>
                </a:solidFill>
              </a:rPr>
              <a:t>Models &amp; Evaluation Strategy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10896" y="850392"/>
            <a:ext cx="11338560" cy="292608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54677A"/>
                </a:solidFill>
                <a:latin typeface="Aptos"/>
              </a:defRPr>
            </a:pPr>
            <a:r>
              <a:rPr>
                <a:solidFill/>
              </a:rPr>
              <a:t>XGBoost optimisation  |  Stratified cross-validation  |  F1-score selection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35024"/>
            <a:ext cx="5907024" cy="136245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655064"/>
            <a:ext cx="630936" cy="630936"/>
          </a:xfrm>
          <a:prstGeom prst="roundRect">
            <a:avLst/>
          </a:prstGeom>
          <a:solidFill>
            <a:srgbClr val="F5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728216"/>
            <a:ext cx="630936" cy="350865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 algn="ctr">
              <a:spcAft>
                <a:spcPts val="300"/>
              </a:spcAft>
              <a:defRPr sz="21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" y="1453895"/>
            <a:ext cx="4572000" cy="320040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11293D"/>
                </a:solidFill>
                <a:latin typeface="Aptos"/>
              </a:defRPr>
            </a:pPr>
            <a:r>
              <a:rPr>
                <a:solidFill/>
              </a:rPr>
              <a:t>Randomized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07592" y="1801368"/>
            <a:ext cx="4572000" cy="256032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54677A"/>
                </a:solidFill>
                <a:latin typeface="Aptos"/>
              </a:defRPr>
            </a:pPr>
            <a:r>
              <a:rPr>
                <a:solidFill/>
              </a:rPr>
              <a:t>20 candidates × 3-fold CV = 60 fits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" y="2084831"/>
            <a:ext cx="4617720" cy="256032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E7DB8"/>
                </a:solidFill>
                <a:latin typeface="Aptos"/>
              </a:defRPr>
            </a:pPr>
            <a:r>
              <a:rPr>
                <a:solidFill/>
              </a:rPr>
              <a:t>Best CV F1: 0.4751  •  depth 3, learning rate 0.10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7592" y="2340864"/>
            <a:ext cx="4572000" cy="237744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4677A"/>
                </a:solidFill>
                <a:latin typeface="Aptos"/>
              </a:defRPr>
            </a:pPr>
            <a:r>
              <a:rPr>
                <a:solidFill/>
              </a:rPr>
              <a:t>300 trees  •  subsample 0.8  •  colsample 1.0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852928"/>
            <a:ext cx="5907024" cy="136245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7200" y="3172968"/>
            <a:ext cx="630936" cy="630936"/>
          </a:xfrm>
          <a:prstGeom prst="roundRect">
            <a:avLst/>
          </a:prstGeom>
          <a:solidFill>
            <a:srgbClr val="F5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630936" cy="350865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 algn="ctr">
              <a:spcAft>
                <a:spcPts val="300"/>
              </a:spcAft>
              <a:defRPr sz="21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07592" y="2971800"/>
            <a:ext cx="4572000" cy="320040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11293D"/>
                </a:solidFill>
                <a:latin typeface="Aptos"/>
              </a:defRPr>
            </a:pPr>
            <a:r>
              <a:rPr>
                <a:solidFill/>
              </a:rPr>
              <a:t>Grid 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7592" y="3319272"/>
            <a:ext cx="4572000" cy="256032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54677A"/>
                </a:solidFill>
                <a:latin typeface="Aptos"/>
              </a:defRPr>
            </a:pPr>
            <a:r>
              <a:rPr>
                <a:solidFill/>
              </a:rPr>
              <a:t>36 candidates × 3-fold CV = 108 fits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7592" y="3602736"/>
            <a:ext cx="4617720" cy="256032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E7DB8"/>
                </a:solidFill>
                <a:latin typeface="Aptos"/>
              </a:defRPr>
            </a:pPr>
            <a:r>
              <a:rPr>
                <a:solidFill/>
              </a:rPr>
              <a:t>Best CV F1: 0.4776  (+0.0025)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07592" y="3858768"/>
            <a:ext cx="4572000" cy="237744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4677A"/>
                </a:solidFill>
                <a:latin typeface="Aptos"/>
              </a:defRPr>
            </a:pPr>
            <a:r>
              <a:rPr>
                <a:solidFill/>
              </a:rPr>
              <a:t>depth 4  •  learning rate 0.10  •  min_child_weight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4370831"/>
            <a:ext cx="5907024" cy="136245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57200" y="4690871"/>
            <a:ext cx="630936" cy="630936"/>
          </a:xfrm>
          <a:prstGeom prst="roundRect">
            <a:avLst/>
          </a:prstGeom>
          <a:solidFill>
            <a:srgbClr val="F5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4764023"/>
            <a:ext cx="630936" cy="350865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 algn="ctr">
              <a:spcAft>
                <a:spcPts val="300"/>
              </a:spcAft>
              <a:defRPr sz="21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7592" y="4489703"/>
            <a:ext cx="4572000" cy="320040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11293D"/>
                </a:solidFill>
                <a:latin typeface="Aptos"/>
              </a:defRPr>
            </a:pPr>
            <a:r>
              <a:rPr>
                <a:solidFill/>
              </a:rPr>
              <a:t>Manual Class-Weight 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07592" y="4837175"/>
            <a:ext cx="4572000" cy="256032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54677A"/>
                </a:solidFill>
                <a:latin typeface="Aptos"/>
              </a:defRPr>
            </a:pPr>
            <a:r>
              <a:rPr>
                <a:solidFill/>
              </a:rPr>
              <a:t>7 weights tested  •  5-fold CV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07592" y="5120640"/>
            <a:ext cx="4617720" cy="256032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E7DB8"/>
                </a:solidFill>
                <a:latin typeface="Aptos"/>
              </a:defRPr>
            </a:pPr>
            <a:r>
              <a:rPr>
                <a:solidFill/>
              </a:rPr>
              <a:t>Best weight: 2.50  •  CV F1: 0.5451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7592" y="5376671"/>
            <a:ext cx="4572000" cy="237744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4677A"/>
                </a:solidFill>
                <a:latin typeface="Aptos"/>
              </a:defRPr>
            </a:pPr>
            <a:r>
              <a:rPr>
                <a:solidFill/>
              </a:rPr>
              <a:t>CV Precision 52.61%  •  CV Recall 56.56%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1335024"/>
            <a:ext cx="5559552" cy="3785615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56248" y="1499616"/>
            <a:ext cx="5166360" cy="310896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11293D"/>
                </a:solidFill>
                <a:latin typeface="Aptos"/>
              </a:defRPr>
            </a:pPr>
            <a:r>
              <a:rPr>
                <a:solidFill/>
              </a:rPr>
              <a:t>CV Precision vs Recall by Class Weight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5392" y="1828800"/>
            <a:ext cx="5120640" cy="237744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4677A"/>
                </a:solidFill>
                <a:latin typeface="Aptos"/>
              </a:defRPr>
            </a:pPr>
            <a:r>
              <a:rPr>
                <a:solidFill/>
              </a:rPr>
              <a:t>Default class (5-fold CV)  •  Percent</a:t>
            </a:r>
          </a:p>
        </p:txBody>
      </p:sp>
      <p:graphicFrame>
        <p:nvGraphicFramePr>
          <p:cNvPr id="29" name="Chart 28"/>
          <p:cNvGraphicFramePr>
            <a:graphicFrameLocks noGrp="1"/>
          </p:cNvGraphicFramePr>
          <p:nvPr/>
        </p:nvGraphicFramePr>
        <p:xfrm>
          <a:off x="6565392" y="2157984"/>
          <a:ext cx="5056632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6355080" y="5285232"/>
            <a:ext cx="5559552" cy="1197864"/>
          </a:xfrm>
          <a:prstGeom prst="roundRect">
            <a:avLst/>
          </a:prstGeom>
          <a:solidFill>
            <a:srgbClr val="0B1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92824" y="5431536"/>
            <a:ext cx="1828800" cy="196977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F78D24"/>
                </a:solidFill>
                <a:latin typeface="Aptos"/>
              </a:defRPr>
            </a:pPr>
            <a:r>
              <a:rPr dirty="0">
                <a:solidFill>
                  <a:srgbClr val="FFC000"/>
                </a:solidFill>
              </a:rPr>
              <a:t>KEY 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92824" y="5687568"/>
            <a:ext cx="5074920" cy="466281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Class weighting improved default Recall from 37.30% to 57.12%,</a:t>
            </a:r>
          </a:p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while test F1 reached 0.5457 (vs 0.4790 unweighted).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" y="6007608"/>
            <a:ext cx="5907024" cy="475488"/>
          </a:xfrm>
          <a:prstGeom prst="roundRect">
            <a:avLst/>
          </a:prstGeom>
          <a:solidFill>
            <a:srgbClr val="E5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7200" y="6117336"/>
            <a:ext cx="5532120" cy="246888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11293D"/>
                </a:solidFill>
                <a:latin typeface="Aptos"/>
              </a:defRPr>
            </a:pPr>
            <a:r>
              <a:rPr>
                <a:solidFill/>
              </a:rPr>
              <a:t>Selected: scale_pos_weight = 2.50  •  Test ROC-AUC = 0.7818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" y="6592824"/>
            <a:ext cx="11338560" cy="182880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800" b="0">
                <a:solidFill>
                  <a:srgbClr val="54677A"/>
                </a:solidFill>
                <a:latin typeface="Aptos"/>
              </a:defRPr>
            </a:pPr>
            <a:r>
              <a:rPr>
                <a:solidFill/>
              </a:rPr>
              <a:t>Source: project notebook  •  CV metrics are training-only; final metrics use the held-out test set.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7368199-4E5B-42F7-82A2-997CC9D909B2}"/>
              </a:ext>
            </a:extLst>
          </p:cNvPr>
          <p:cNvSpPr/>
          <p:nvPr/>
        </p:nvSpPr>
        <p:spPr>
          <a:xfrm>
            <a:off x="0" y="0"/>
            <a:ext cx="12191695" cy="85039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7" name="TextBox 2">
            <a:extLst>
              <a:ext uri="{FF2B5EF4-FFF2-40B4-BE49-F238E27FC236}">
                <a16:creationId xmlns:a16="http://schemas.microsoft.com/office/drawing/2014/main" id="{42A4A371-B83F-476D-A5A0-3EFC4506C9B9}"/>
              </a:ext>
            </a:extLst>
          </p:cNvPr>
          <p:cNvSpPr txBox="1"/>
          <p:nvPr/>
        </p:nvSpPr>
        <p:spPr>
          <a:xfrm>
            <a:off x="292608" y="182880"/>
            <a:ext cx="11521440" cy="504754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3100" b="1">
                <a:solidFill>
                  <a:srgbClr val="11293D"/>
                </a:solidFill>
                <a:latin typeface="Georgia"/>
              </a:defRPr>
            </a:pPr>
            <a:r>
              <a:rPr dirty="0">
                <a:solidFill>
                  <a:schemeClr val="bg1"/>
                </a:solidFill>
              </a:rPr>
              <a:t>Hyperparameter Tuning &amp; Class Weights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37160" y="1033271"/>
            <a:ext cx="11887200" cy="13716"/>
          </a:xfrm>
          <a:prstGeom prst="rect">
            <a:avLst/>
          </a:prstGeom>
          <a:solidFill>
            <a:srgbClr val="DCE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64592" y="1234440"/>
            <a:ext cx="580644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17920" y="1234440"/>
            <a:ext cx="580644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48056" y="1426855"/>
            <a:ext cx="1417320" cy="274320"/>
          </a:xfrm>
          <a:prstGeom prst="roundRect">
            <a:avLst/>
          </a:prstGeom>
          <a:solidFill>
            <a:srgbClr val="E7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444752"/>
            <a:ext cx="141732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950" b="1" dirty="0">
                <a:solidFill>
                  <a:srgbClr val="3465DB"/>
                </a:solidFill>
                <a:latin typeface="Aptos"/>
              </a:rPr>
              <a:t>GLOBAL EXPLANATION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71907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733"/>
                </a:solidFill>
                <a:latin typeface="Aptos"/>
              </a:rPr>
              <a:t>SHAP Summary Plot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37376" y="1426855"/>
            <a:ext cx="1325880" cy="274320"/>
          </a:xfrm>
          <a:prstGeom prst="roundRect">
            <a:avLst/>
          </a:prstGeom>
          <a:solidFill>
            <a:srgbClr val="EA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3952" y="1453113"/>
            <a:ext cx="1399032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950" b="1" dirty="0">
                <a:solidFill>
                  <a:srgbClr val="11B6B0"/>
                </a:solidFill>
                <a:latin typeface="Aptos"/>
              </a:rPr>
              <a:t>LOCAL EXPLANATION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71907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733"/>
                </a:solidFill>
                <a:latin typeface="Aptos"/>
              </a:rPr>
              <a:t>SHAP Waterfall Plot</a:t>
            </a:r>
          </a:p>
        </p:txBody>
      </p:sp>
      <p:pic>
        <p:nvPicPr>
          <p:cNvPr id="14" name="Picture 13" descr="2f29bdfa-9235-5be6-a5fc-00814812a0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11680"/>
            <a:ext cx="5257800" cy="30632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4360" y="5039021"/>
            <a:ext cx="5257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30" b="0" dirty="0">
                <a:solidFill>
                  <a:srgbClr val="56657B"/>
                </a:solidFill>
                <a:latin typeface="Aptos"/>
              </a:rPr>
              <a:t>Global view: the model is driven mainly by repayment-delay history, credit utilization, and bill/payment variables.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5012747"/>
            <a:ext cx="52303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00" dirty="0"/>
              <a:t>Local view: SHAP values explain how individual features shift the model output from its baseline prediction.</a:t>
            </a:r>
            <a:endParaRPr sz="930" b="0" dirty="0">
              <a:solidFill>
                <a:srgbClr val="56657B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164592" y="5486400"/>
            <a:ext cx="11859768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64592" y="5486400"/>
            <a:ext cx="109728" cy="1005840"/>
          </a:xfrm>
          <a:prstGeom prst="rect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84048" y="557784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733"/>
                </a:solidFill>
                <a:latin typeface="Aptos"/>
              </a:rPr>
              <a:t>Business Meaning</a:t>
            </a:r>
          </a:p>
        </p:txBody>
      </p:sp>
      <p:sp>
        <p:nvSpPr>
          <p:cNvPr id="20" name="Oval 19"/>
          <p:cNvSpPr/>
          <p:nvPr/>
        </p:nvSpPr>
        <p:spPr>
          <a:xfrm>
            <a:off x="402336" y="5897880"/>
            <a:ext cx="91440" cy="91440"/>
          </a:xfrm>
          <a:prstGeom prst="ellipse">
            <a:avLst/>
          </a:prstGeom>
          <a:solidFill>
            <a:srgbClr val="11B6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5815584"/>
            <a:ext cx="34747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50" dirty="0"/>
              <a:t>Repayment delays are the strongest warning signs, supporting earlier identification of high-risk customers.</a:t>
            </a:r>
            <a:endParaRPr sz="1030" b="0" dirty="0">
              <a:solidFill>
                <a:srgbClr val="56657B"/>
              </a:solidFill>
              <a:latin typeface="Aptos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160520" y="5897880"/>
            <a:ext cx="91440" cy="91440"/>
          </a:xfrm>
          <a:prstGeom prst="ellipse">
            <a:avLst/>
          </a:prstGeom>
          <a:solidFill>
            <a:srgbClr val="11B6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06824" y="5815584"/>
            <a:ext cx="356616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50" dirty="0"/>
              <a:t>Credit utilization and billing behavior provide additional risk signals, supporting earlier monitoring and intervention.</a:t>
            </a:r>
            <a:endParaRPr sz="1030" b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7973568" y="5897880"/>
            <a:ext cx="91440" cy="91440"/>
          </a:xfrm>
          <a:prstGeom prst="ellipse">
            <a:avLst/>
          </a:prstGeom>
          <a:solidFill>
            <a:srgbClr val="11B6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19872" y="5815584"/>
            <a:ext cx="36576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50" dirty="0"/>
              <a:t>SHAP supports more transparent risk assessments and targeted customer reviews.</a:t>
            </a:r>
            <a:endParaRPr sz="1030" b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112CB03-FA36-4AD1-98BE-057E9B281DF4}"/>
              </a:ext>
            </a:extLst>
          </p:cNvPr>
          <p:cNvSpPr/>
          <p:nvPr/>
        </p:nvSpPr>
        <p:spPr>
          <a:xfrm>
            <a:off x="0" y="0"/>
            <a:ext cx="12191695" cy="98755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7" name="TextBox 2">
            <a:extLst>
              <a:ext uri="{FF2B5EF4-FFF2-40B4-BE49-F238E27FC236}">
                <a16:creationId xmlns:a16="http://schemas.microsoft.com/office/drawing/2014/main" id="{434E8874-CE1C-4427-A464-C868067BDB70}"/>
              </a:ext>
            </a:extLst>
          </p:cNvPr>
          <p:cNvSpPr txBox="1"/>
          <p:nvPr/>
        </p:nvSpPr>
        <p:spPr>
          <a:xfrm>
            <a:off x="347472" y="146162"/>
            <a:ext cx="42062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>
                <a:solidFill>
                  <a:schemeClr val="bg1"/>
                </a:solidFill>
                <a:latin typeface="Aptos Display"/>
              </a:rPr>
              <a:t>Model Interpretation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DA2EB944-A1B7-47D2-9D4B-9BF9AE43F0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800" y="1978554"/>
            <a:ext cx="4353120" cy="30262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64592" y="1060704"/>
            <a:ext cx="11887200" cy="13716"/>
          </a:xfrm>
          <a:prstGeom prst="rect">
            <a:avLst/>
          </a:prstGeom>
          <a:solidFill>
            <a:srgbClr val="DCE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56032" y="1353312"/>
            <a:ext cx="3675887" cy="941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56032" y="1353312"/>
            <a:ext cx="64008" cy="941832"/>
          </a:xfrm>
          <a:prstGeom prst="rect">
            <a:avLst/>
          </a:prstGeom>
          <a:solidFill>
            <a:srgbClr val="11B6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15179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B6B0"/>
                </a:solidFill>
                <a:latin typeface="Aptos"/>
              </a:rPr>
              <a:t>+263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843682"/>
            <a:ext cx="3200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56657B"/>
                </a:solidFill>
                <a:latin typeface="Aptos"/>
              </a:rPr>
              <a:t>Additional actual defaults found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50791" y="1353312"/>
            <a:ext cx="3675887" cy="941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050791" y="1353312"/>
            <a:ext cx="64008" cy="941832"/>
          </a:xfrm>
          <a:prstGeom prst="rect">
            <a:avLst/>
          </a:prstGeom>
          <a:solidFill>
            <a:srgbClr val="F5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845552" y="1353312"/>
            <a:ext cx="3675887" cy="941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845552" y="1353312"/>
            <a:ext cx="64008" cy="941832"/>
          </a:xfrm>
          <a:prstGeom prst="rect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65008" y="15179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465DB"/>
                </a:solidFill>
                <a:latin typeface="Aptos"/>
              </a:rPr>
              <a:t>€240.6k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5008" y="1869948"/>
            <a:ext cx="3200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56657B"/>
                </a:solidFill>
                <a:latin typeface="Aptos"/>
              </a:rPr>
              <a:t>Illustrative lower error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" y="2542032"/>
            <a:ext cx="5650992" cy="3822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245352" y="2542032"/>
            <a:ext cx="5650992" cy="3822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76071" y="2706623"/>
            <a:ext cx="1760729" cy="571503"/>
          </a:xfrm>
          <a:prstGeom prst="roundRect">
            <a:avLst/>
          </a:prstGeom>
          <a:solidFill>
            <a:srgbClr val="E8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0391" y="2868918"/>
            <a:ext cx="176072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11B6B0"/>
                </a:solidFill>
                <a:latin typeface="Aptos"/>
              </a:rPr>
              <a:t>COST COMPARISON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19671" y="2706623"/>
            <a:ext cx="1642195" cy="571503"/>
          </a:xfrm>
          <a:prstGeom prst="roundRect">
            <a:avLst/>
          </a:prstGeom>
          <a:solidFill>
            <a:srgbClr val="ED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14988" y="2857377"/>
            <a:ext cx="13468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100" b="1" dirty="0">
                <a:solidFill>
                  <a:srgbClr val="3465DB"/>
                </a:solidFill>
                <a:latin typeface="Aptos"/>
              </a:rPr>
              <a:t>SENSITIVITY TEST</a:t>
            </a:r>
          </a:p>
        </p:txBody>
      </p:sp>
      <p:pic>
        <p:nvPicPr>
          <p:cNvPr id="26" name="Picture 25" descr="73a0493d-92dd-5b12-a5a3-cccd93e747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3278127"/>
            <a:ext cx="5358384" cy="285373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343398" y="1453896"/>
            <a:ext cx="249631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0B1733"/>
                </a:solidFill>
                <a:latin typeface="Aptos"/>
              </a:rPr>
              <a:t>Cost</a:t>
            </a:r>
            <a:r>
              <a:rPr lang="fr-FR" sz="1500" b="1" dirty="0">
                <a:solidFill>
                  <a:srgbClr val="0B1733"/>
                </a:solidFill>
                <a:latin typeface="Aptos"/>
              </a:rPr>
              <a:t> </a:t>
            </a:r>
            <a:r>
              <a:rPr lang="fr-FR" sz="1500" b="1" dirty="0" err="1">
                <a:solidFill>
                  <a:srgbClr val="0B1733"/>
                </a:solidFill>
                <a:latin typeface="Aptos"/>
              </a:rPr>
              <a:t>assumptions</a:t>
            </a:r>
            <a:endParaRPr sz="1500" b="1" dirty="0">
              <a:solidFill>
                <a:srgbClr val="0F214A"/>
              </a:solidFill>
              <a:latin typeface="Apto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357114" y="1754752"/>
            <a:ext cx="2468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dirty="0">
                <a:solidFill>
                  <a:srgbClr val="56657B"/>
                </a:solidFill>
                <a:latin typeface="Aptos"/>
              </a:rPr>
              <a:t>Missed default (FN): €1,000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70830" y="1965960"/>
            <a:ext cx="2468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dirty="0">
                <a:solidFill>
                  <a:srgbClr val="56657B"/>
                </a:solidFill>
                <a:latin typeface="Aptos"/>
              </a:rPr>
              <a:t>False alarm (FP): €50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" y="6483096"/>
            <a:ext cx="52120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1">
                <a:solidFill>
                  <a:srgbClr val="D35B68"/>
                </a:solidFill>
                <a:latin typeface="Aptos"/>
              </a:rPr>
              <a:t>Illustrative simulation — not observed financial savings.</a:t>
            </a:r>
          </a:p>
        </p:txBody>
      </p:sp>
      <p:pic>
        <p:nvPicPr>
          <p:cNvPr id="39" name="Image 0" descr="/mnt/data/ml_assets/cell_224_0.png">
            <a:extLst>
              <a:ext uri="{FF2B5EF4-FFF2-40B4-BE49-F238E27FC236}">
                <a16:creationId xmlns:a16="http://schemas.microsoft.com/office/drawing/2014/main" id="{AC960BE0-6EA3-4CD4-8AFF-0DCE6651DB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12" y="3278127"/>
            <a:ext cx="5527964" cy="2782013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5CC6D25C-7A4C-4645-B32D-2772030B3EB4}"/>
              </a:ext>
            </a:extLst>
          </p:cNvPr>
          <p:cNvSpPr/>
          <p:nvPr/>
        </p:nvSpPr>
        <p:spPr>
          <a:xfrm>
            <a:off x="0" y="1"/>
            <a:ext cx="12191695" cy="9358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2" name="TextBox 2">
            <a:extLst>
              <a:ext uri="{FF2B5EF4-FFF2-40B4-BE49-F238E27FC236}">
                <a16:creationId xmlns:a16="http://schemas.microsoft.com/office/drawing/2014/main" id="{F6C14447-BA53-43AB-A68B-4C2E69C05711}"/>
              </a:ext>
            </a:extLst>
          </p:cNvPr>
          <p:cNvSpPr txBox="1"/>
          <p:nvPr/>
        </p:nvSpPr>
        <p:spPr>
          <a:xfrm>
            <a:off x="256032" y="197037"/>
            <a:ext cx="34747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>
                <a:solidFill>
                  <a:schemeClr val="bg1"/>
                </a:solidFill>
                <a:latin typeface="Aptos Display"/>
              </a:rPr>
              <a:t>Business Impact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594360" y="1156885"/>
            <a:ext cx="11018520" cy="0"/>
          </a:xfrm>
          <a:prstGeom prst="line">
            <a:avLst/>
          </a:prstGeom>
          <a:noFill/>
          <a:ln w="12700">
            <a:solidFill>
              <a:srgbClr val="DFE6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67512" y="1770041"/>
            <a:ext cx="3557016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8" name="Shape 6"/>
          <p:cNvSpPr/>
          <p:nvPr/>
        </p:nvSpPr>
        <p:spPr>
          <a:xfrm>
            <a:off x="667512" y="1728216"/>
            <a:ext cx="3557016" cy="100584"/>
          </a:xfrm>
          <a:prstGeom prst="rect">
            <a:avLst/>
          </a:prstGeom>
          <a:solidFill>
            <a:srgbClr val="11B6B0"/>
          </a:solidFill>
          <a:ln w="12700">
            <a:solidFill>
              <a:srgbClr val="15A98E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14400" y="19842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1B6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 RISK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3774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072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51.05% clients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273405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9.37% default </a:t>
            </a:r>
            <a:r>
              <a:rPr lang="fr-FR" altLang="zh-CN" sz="16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</a:t>
            </a:r>
            <a:r>
              <a:rPr lang="en-US" altLang="zh-CN" sz="1600" b="1" dirty="0" err="1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07992" y="1728216"/>
            <a:ext cx="3557016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507992" y="1728216"/>
            <a:ext cx="3557016" cy="100584"/>
          </a:xfrm>
          <a:prstGeom prst="rect">
            <a:avLst/>
          </a:prstGeom>
          <a:solidFill>
            <a:srgbClr val="F5A34A"/>
          </a:solidFill>
          <a:ln w="12700">
            <a:solidFill>
              <a:srgbClr val="F5A34A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4754880" y="19842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5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MEDIUM RISK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754880" y="23774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072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31.70% clients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54880" y="273405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21.77% default rate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348472" y="1728216"/>
            <a:ext cx="3557016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348472" y="1728216"/>
            <a:ext cx="3557016" cy="100584"/>
          </a:xfrm>
          <a:prstGeom prst="rect">
            <a:avLst/>
          </a:prstGeom>
          <a:solidFill>
            <a:srgbClr val="D35B68"/>
          </a:solidFill>
          <a:ln w="12700">
            <a:solidFill>
              <a:srgbClr val="D35B68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595360" y="19842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D35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 RISK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595360" y="23774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072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17.25% clients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595360" y="273405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60.48% default rate</a:t>
            </a:r>
            <a:endParaRPr lang="en-US" sz="1600" dirty="0"/>
          </a:p>
        </p:txBody>
      </p:sp>
      <p:pic>
        <p:nvPicPr>
          <p:cNvPr id="22" name="Image 0" descr="/mnt/data/ml_assets/cell_241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3278801"/>
            <a:ext cx="6537960" cy="3085423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7301992" y="3308180"/>
            <a:ext cx="4603496" cy="3026663"/>
          </a:xfrm>
          <a:prstGeom prst="roundRect">
            <a:avLst>
              <a:gd name="adj" fmla="val 6367"/>
            </a:avLst>
          </a:prstGeom>
          <a:solidFill>
            <a:srgbClr val="EDF2FF"/>
          </a:solidFill>
          <a:ln w="12700">
            <a:solidFill>
              <a:srgbClr val="EDF2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7659285" y="3337560"/>
            <a:ext cx="3355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strategy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7603236" y="3749040"/>
            <a:ext cx="77724" cy="77724"/>
          </a:xfrm>
          <a:prstGeom prst="roundRect">
            <a:avLst>
              <a:gd name="adj" fmla="val 200000"/>
            </a:avLst>
          </a:prstGeom>
          <a:solidFill>
            <a:srgbClr val="11B6B0"/>
          </a:solidFill>
          <a:ln w="12700">
            <a:solidFill>
              <a:srgbClr val="11B6B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7772400" y="3685031"/>
            <a:ext cx="326440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b="1" dirty="0"/>
              <a:t>HIGH RISK</a:t>
            </a:r>
            <a:br>
              <a:rPr lang="en-US" sz="1400" dirty="0"/>
            </a:br>
            <a:r>
              <a:rPr lang="en-US" sz="1400" dirty="0"/>
              <a:t>Prioritize manual review and targeted interventions.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7616952" y="4517474"/>
            <a:ext cx="77724" cy="77724"/>
          </a:xfrm>
          <a:prstGeom prst="roundRect">
            <a:avLst>
              <a:gd name="adj" fmla="val 200000"/>
            </a:avLst>
          </a:prstGeom>
          <a:solidFill>
            <a:srgbClr val="11B6B0"/>
          </a:solidFill>
          <a:ln w="12700">
            <a:solidFill>
              <a:srgbClr val="11B6B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7772400" y="5262032"/>
            <a:ext cx="3867912" cy="6890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1600" b="1" dirty="0"/>
              <a:t>RESOURCE EFFICIENCY</a:t>
            </a:r>
          </a:p>
          <a:p>
            <a:pPr marL="0" indent="0">
              <a:buNone/>
            </a:pPr>
            <a:br>
              <a:rPr lang="en-US" sz="1400" dirty="0"/>
            </a:br>
            <a:r>
              <a:rPr lang="en-US" sz="1400" dirty="0"/>
              <a:t>Top 500 ranked clients: 72.2% actual defaults — approximately 3.3× the random-selection baseline.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38293" y="6464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3465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 500 ranked clients: 361 actual defaults identified </a:t>
            </a:r>
            <a:r>
              <a:rPr lang="en-US" sz="1100" b="1" dirty="0">
                <a:solidFill>
                  <a:schemeClr val="accent1"/>
                </a:solidFill>
              </a:rPr>
              <a:t>vs 111 expected from random selection</a:t>
            </a:r>
            <a:r>
              <a:rPr lang="en-US" sz="1100" b="1" dirty="0">
                <a:solidFill>
                  <a:srgbClr val="3465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1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0C39B92-9F26-4FB3-A315-1DD414F0A3F2}"/>
              </a:ext>
            </a:extLst>
          </p:cNvPr>
          <p:cNvSpPr/>
          <p:nvPr/>
        </p:nvSpPr>
        <p:spPr>
          <a:xfrm>
            <a:off x="0" y="0"/>
            <a:ext cx="12191695" cy="11064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1" name="Text 2">
            <a:extLst>
              <a:ext uri="{FF2B5EF4-FFF2-40B4-BE49-F238E27FC236}">
                <a16:creationId xmlns:a16="http://schemas.microsoft.com/office/drawing/2014/main" id="{5F88CDE1-289B-466D-87EA-573C5525A107}"/>
              </a:ext>
            </a:extLst>
          </p:cNvPr>
          <p:cNvSpPr/>
          <p:nvPr/>
        </p:nvSpPr>
        <p:spPr>
          <a:xfrm>
            <a:off x="667512" y="217255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Management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32" name="Text 23">
            <a:extLst>
              <a:ext uri="{FF2B5EF4-FFF2-40B4-BE49-F238E27FC236}">
                <a16:creationId xmlns:a16="http://schemas.microsoft.com/office/drawing/2014/main" id="{373B2A72-712A-4CEB-AA48-2AC9D2906AF6}"/>
              </a:ext>
            </a:extLst>
          </p:cNvPr>
          <p:cNvSpPr/>
          <p:nvPr/>
        </p:nvSpPr>
        <p:spPr>
          <a:xfrm>
            <a:off x="7772400" y="4443008"/>
            <a:ext cx="3264408" cy="6890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b="1" dirty="0"/>
              <a:t>MEDIUM RISK</a:t>
            </a:r>
          </a:p>
          <a:p>
            <a:pPr marL="0" indent="0">
              <a:buNone/>
            </a:pPr>
            <a:r>
              <a:rPr lang="en-US" sz="1400" dirty="0"/>
              <a:t>Send automated reminders and monitor repayment behavior.</a:t>
            </a:r>
            <a:endParaRPr lang="en-US" sz="1300" dirty="0"/>
          </a:p>
        </p:txBody>
      </p:sp>
      <p:sp>
        <p:nvSpPr>
          <p:cNvPr id="33" name="Shape 24">
            <a:extLst>
              <a:ext uri="{FF2B5EF4-FFF2-40B4-BE49-F238E27FC236}">
                <a16:creationId xmlns:a16="http://schemas.microsoft.com/office/drawing/2014/main" id="{49652CDE-1514-4A94-A9FD-E61A8A1B3B3A}"/>
              </a:ext>
            </a:extLst>
          </p:cNvPr>
          <p:cNvSpPr/>
          <p:nvPr/>
        </p:nvSpPr>
        <p:spPr>
          <a:xfrm>
            <a:off x="7600950" y="5310546"/>
            <a:ext cx="77724" cy="77724"/>
          </a:xfrm>
          <a:prstGeom prst="roundRect">
            <a:avLst>
              <a:gd name="adj" fmla="val 200000"/>
            </a:avLst>
          </a:prstGeom>
          <a:solidFill>
            <a:srgbClr val="11B6B0"/>
          </a:solidFill>
          <a:ln w="12700">
            <a:solidFill>
              <a:srgbClr val="11B6B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" y="594360"/>
            <a:ext cx="73152" cy="5166360"/>
          </a:xfrm>
          <a:prstGeom prst="rect">
            <a:avLst/>
          </a:prstGeom>
          <a:solidFill>
            <a:srgbClr val="11B6B0"/>
          </a:solidFill>
          <a:ln w="12700">
            <a:solidFill>
              <a:srgbClr val="11B6B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05840" y="79552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kern="0" spc="180" dirty="0">
                <a:solidFill>
                  <a:srgbClr val="79DC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CONCLUSION &amp; FUTURE WORK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5710" y="1447080"/>
            <a:ext cx="5257124" cy="9966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Toward real-world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risk decisions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797153" y="2472267"/>
            <a:ext cx="4990701" cy="284522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D8E4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External validation with more recent, representative data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b="1" dirty="0">
              <a:solidFill>
                <a:srgbClr val="D8E4F7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Probability calibration, threshold optimization, and fairness assessment.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b="1" dirty="0">
              <a:solidFill>
                <a:schemeClr val="bg1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Model monitoring and pilot interventions to evaluate real-world outcomes.</a:t>
            </a:r>
            <a:endParaRPr lang="en-US" sz="1800" b="1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D8E4F7"/>
              </a:solidFill>
              <a:latin typeface="Aptos" pitchFamily="34" charset="0"/>
              <a:ea typeface="Aptos" pitchFamily="34" charset="-122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69848" y="2574460"/>
            <a:ext cx="5137573" cy="316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     </a:t>
            </a:r>
            <a:r>
              <a:rPr lang="fr-FR" b="1" dirty="0">
                <a:solidFill>
                  <a:schemeClr val="bg1"/>
                </a:solidFill>
              </a:rPr>
              <a:t>1. </a:t>
            </a:r>
            <a:r>
              <a:rPr lang="fr-FR" b="1" dirty="0" err="1">
                <a:solidFill>
                  <a:schemeClr val="bg1"/>
                </a:solidFill>
              </a:rPr>
              <a:t>Predictive</a:t>
            </a:r>
            <a:r>
              <a:rPr lang="fr-FR" b="1" dirty="0">
                <a:solidFill>
                  <a:schemeClr val="bg1"/>
                </a:solidFill>
              </a:rPr>
              <a:t> Performance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bg1"/>
                </a:solidFill>
              </a:rPr>
              <a:t>Weighted </a:t>
            </a:r>
            <a:r>
              <a:rPr lang="en-US" dirty="0" err="1">
                <a:solidFill>
                  <a:schemeClr val="bg1"/>
                </a:solidFill>
              </a:rPr>
              <a:t>XGBoost</a:t>
            </a:r>
            <a:r>
              <a:rPr lang="en-US" dirty="0">
                <a:solidFill>
                  <a:schemeClr val="bg1"/>
                </a:solidFill>
              </a:rPr>
              <a:t> achieved an F1-score of </a:t>
            </a:r>
            <a:r>
              <a:rPr lang="en-US" b="1" dirty="0">
                <a:solidFill>
                  <a:schemeClr val="bg1"/>
                </a:solidFill>
              </a:rPr>
              <a:t>0.5457</a:t>
            </a:r>
            <a:r>
              <a:rPr lang="en-US" dirty="0">
                <a:solidFill>
                  <a:schemeClr val="bg1"/>
                </a:solidFill>
              </a:rPr>
              <a:t>, Recall of </a:t>
            </a:r>
            <a:r>
              <a:rPr lang="en-US" b="1" dirty="0">
                <a:solidFill>
                  <a:schemeClr val="bg1"/>
                </a:solidFill>
              </a:rPr>
              <a:t>57.12%</a:t>
            </a:r>
            <a:r>
              <a:rPr lang="en-US" dirty="0">
                <a:solidFill>
                  <a:schemeClr val="bg1"/>
                </a:solidFill>
              </a:rPr>
              <a:t>, and ROC-AUC of </a:t>
            </a:r>
            <a:r>
              <a:rPr lang="en-US" b="1" dirty="0">
                <a:solidFill>
                  <a:schemeClr val="bg1"/>
                </a:solidFill>
              </a:rPr>
              <a:t>0.7818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r>
              <a:rPr lang="en-US" dirty="0">
                <a:solidFill>
                  <a:schemeClr val="bg1"/>
                </a:solidFill>
              </a:rPr>
              <a:t>      </a:t>
            </a:r>
            <a:r>
              <a:rPr lang="en-US" b="1" dirty="0">
                <a:solidFill>
                  <a:schemeClr val="bg1"/>
                </a:solidFill>
              </a:rPr>
              <a:t>2. Business Impact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bg1"/>
                </a:solidFill>
              </a:rPr>
              <a:t>Class weighting identified </a:t>
            </a:r>
            <a:r>
              <a:rPr lang="en-US" b="1" dirty="0">
                <a:solidFill>
                  <a:schemeClr val="bg1"/>
                </a:solidFill>
              </a:rPr>
              <a:t>263 additional actual defaults</a:t>
            </a:r>
            <a:r>
              <a:rPr lang="en-US" dirty="0">
                <a:solidFill>
                  <a:schemeClr val="bg1"/>
                </a:solidFill>
              </a:rPr>
              <a:t>, reducing illustrative error costs by </a:t>
            </a:r>
            <a:r>
              <a:rPr lang="en-US" b="1" dirty="0">
                <a:solidFill>
                  <a:schemeClr val="bg1"/>
                </a:solidFill>
              </a:rPr>
              <a:t>€240.6k</a:t>
            </a:r>
            <a:r>
              <a:rPr lang="en-US" dirty="0">
                <a:solidFill>
                  <a:schemeClr val="bg1"/>
                </a:solidFill>
              </a:rPr>
              <a:t> under the stated assumptions.</a:t>
            </a:r>
          </a:p>
          <a:p>
            <a:r>
              <a:rPr lang="en-US" dirty="0">
                <a:solidFill>
                  <a:schemeClr val="bg1"/>
                </a:solidFill>
              </a:rPr>
              <a:t>      </a:t>
            </a:r>
            <a:r>
              <a:rPr lang="en-US" b="1" dirty="0">
                <a:solidFill>
                  <a:schemeClr val="bg1"/>
                </a:solidFill>
              </a:rPr>
              <a:t>3. Risk Management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bg1"/>
                </a:solidFill>
              </a:rPr>
              <a:t>Risk-based ranking identified 361 actual defaults among the top 500 customers, improving review prioritization.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1005840" y="577900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THANK YOU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9034272" y="6007608"/>
            <a:ext cx="2057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700" dirty="0">
                <a:solidFill>
                  <a:srgbClr val="8EE4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Questions?</a:t>
            </a:r>
            <a:endParaRPr lang="en-US" sz="1700" dirty="0"/>
          </a:p>
        </p:txBody>
      </p:sp>
      <p:sp>
        <p:nvSpPr>
          <p:cNvPr id="15" name="Text 2">
            <a:extLst>
              <a:ext uri="{FF2B5EF4-FFF2-40B4-BE49-F238E27FC236}">
                <a16:creationId xmlns:a16="http://schemas.microsoft.com/office/drawing/2014/main" id="{1FD05352-2FED-4509-85B4-5E16429284F3}"/>
              </a:ext>
            </a:extLst>
          </p:cNvPr>
          <p:cNvSpPr/>
          <p:nvPr/>
        </p:nvSpPr>
        <p:spPr>
          <a:xfrm>
            <a:off x="1343828" y="1314450"/>
            <a:ext cx="3583771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</a:rPr>
              <a:t>KEY FINDINGS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433</TotalTime>
  <Words>1112</Words>
  <Application>Microsoft Office PowerPoint</Application>
  <PresentationFormat>Grand écran</PresentationFormat>
  <Paragraphs>194</Paragraphs>
  <Slides>10</Slides>
  <Notes>5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Georgia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Credit Card Default Risk Analysis and Prediction</dc:title>
  <dc:subject>Credit Card Default Risk Analysis and Prediction</dc:subject>
  <dc:creator>ML Project Presentation</dc:creator>
  <cp:lastModifiedBy>Ailixier Kuerban</cp:lastModifiedBy>
  <cp:revision>29</cp:revision>
  <dcterms:created xsi:type="dcterms:W3CDTF">2026-10-26T20:57:34Z</dcterms:created>
  <dcterms:modified xsi:type="dcterms:W3CDTF">2026-10-29T19:01:26Z</dcterms:modified>
</cp:coreProperties>
</file>