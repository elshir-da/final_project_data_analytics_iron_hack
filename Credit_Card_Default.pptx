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3465DB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21–30</c:v>
                </c:pt>
                <c:pt idx="1">
                  <c:v>31–40</c:v>
                </c:pt>
                <c:pt idx="2">
                  <c:v>41–50</c:v>
                </c:pt>
                <c:pt idx="3">
                  <c:v>51–60</c:v>
                </c:pt>
                <c:pt idx="4">
                  <c:v>61+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22.5</c:v>
                </c:pt>
                <c:pt idx="1">
                  <c:v>20.5</c:v>
                </c:pt>
                <c:pt idx="2">
                  <c:v>23.4</c:v>
                </c:pt>
                <c:pt idx="3">
                  <c:v>25.2</c:v>
                </c:pt>
                <c:pt idx="4">
                  <c:v>26.8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AD8-47FD-B021-AB4745A531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314C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F6880"/>
                </a:solidFill>
              </a:defRPr>
            </a:pPr>
            <a:endParaRPr lang="fr-FR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3465DB"/>
            </a:solidFill>
            <a:ln>
              <a:noFill/>
            </a:ln>
          </c:spPr>
          <c:invertIfNegative val="1"/>
          <c:cat>
            <c:strRef>
              <c:f>Sheet1!$A$2:$A$12</c:f>
              <c:strCache>
                <c:ptCount val="11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13.5</c:v>
                </c:pt>
                <c:pt idx="1">
                  <c:v>16.8</c:v>
                </c:pt>
                <c:pt idx="2">
                  <c:v>13.1</c:v>
                </c:pt>
                <c:pt idx="3">
                  <c:v>34.200000000000003</c:v>
                </c:pt>
                <c:pt idx="4">
                  <c:v>69</c:v>
                </c:pt>
                <c:pt idx="5">
                  <c:v>76</c:v>
                </c:pt>
                <c:pt idx="6">
                  <c:v>68.3</c:v>
                </c:pt>
                <c:pt idx="7">
                  <c:v>50</c:v>
                </c:pt>
                <c:pt idx="8">
                  <c:v>54.7</c:v>
                </c:pt>
                <c:pt idx="9">
                  <c:v>77.8</c:v>
                </c:pt>
                <c:pt idx="10">
                  <c:v>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821-4413-8A09-77FA324A8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314C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F6880"/>
                </a:solidFill>
              </a:defRPr>
            </a:pPr>
            <a:endParaRPr lang="fr-FR"/>
          </a:p>
        </c:txPr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465DB"/>
            </a:solidFill>
            <a:ln>
              <a:noFill/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3.52</c:v>
                </c:pt>
                <c:pt idx="6">
                  <c:v>4.0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67.430000000000007</c:v>
                </c:pt>
                <c:pt idx="1">
                  <c:v>62.13</c:v>
                </c:pt>
                <c:pt idx="2">
                  <c:v>56.75</c:v>
                </c:pt>
                <c:pt idx="3">
                  <c:v>52.61</c:v>
                </c:pt>
                <c:pt idx="4">
                  <c:v>49.2</c:v>
                </c:pt>
                <c:pt idx="5">
                  <c:v>45.98</c:v>
                </c:pt>
                <c:pt idx="6">
                  <c:v>43.66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A83-4CAA-A528-D7997EF22B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A34A"/>
            </a:solidFill>
            <a:ln>
              <a:noFill/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3.52</c:v>
                </c:pt>
                <c:pt idx="6">
                  <c:v>4.0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36.71</c:v>
                </c:pt>
                <c:pt idx="1">
                  <c:v>44.81</c:v>
                </c:pt>
                <c:pt idx="2">
                  <c:v>51.18</c:v>
                </c:pt>
                <c:pt idx="3">
                  <c:v>56.56</c:v>
                </c:pt>
                <c:pt idx="4">
                  <c:v>60.61</c:v>
                </c:pt>
                <c:pt idx="5">
                  <c:v>64.400000000000006</c:v>
                </c:pt>
                <c:pt idx="6">
                  <c:v>67.599999999999994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A83-4CAA-A528-D7997EF22B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068027336"/>
        <c:crosses val="autoZero"/>
        <c:crossBetween val="between"/>
        <c:majorUnit val="20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44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97B71-6F42-4D01-BF2B-A3EDF461B6E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260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3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949440" y="-1920240"/>
            <a:ext cx="7406640" cy="7406640"/>
          </a:xfrm>
          <a:prstGeom prst="arc">
            <a:avLst/>
          </a:prstGeom>
          <a:solidFill>
            <a:srgbClr val="122B58">
              <a:alpha val="80000"/>
            </a:srgbClr>
          </a:solidFill>
          <a:ln w="25400">
            <a:solidFill>
              <a:srgbClr val="1D376A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188720"/>
            <a:ext cx="4846320" cy="4846320"/>
          </a:xfrm>
          <a:prstGeom prst="ellipse">
            <a:avLst/>
          </a:prstGeom>
          <a:solidFill>
            <a:srgbClr val="1E4384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858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9DC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1307592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Card Default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Analysis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427024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BD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predictive modeling to actionable risk decisions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CBD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UCI </a:t>
            </a:r>
            <a:r>
              <a:rPr lang="en-US" sz="1600" dirty="0">
                <a:solidFill>
                  <a:schemeClr val="bg1"/>
                </a:solidFill>
              </a:rPr>
              <a:t>Default of Credit Card Clients</a:t>
            </a:r>
            <a:endParaRPr lang="en-US" sz="170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" y="5065776"/>
            <a:ext cx="3182112" cy="484632"/>
          </a:xfrm>
          <a:prstGeom prst="roundRect">
            <a:avLst>
              <a:gd name="adj" fmla="val 22642"/>
            </a:avLst>
          </a:prstGeom>
          <a:solidFill>
            <a:srgbClr val="11B6B0"/>
          </a:solidFill>
          <a:ln w="12700">
            <a:solidFill>
              <a:srgbClr val="11B6B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51663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 →  ML  →  BUSINESS 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-660000">
            <a:off x="8339328" y="1828800"/>
            <a:ext cx="3154680" cy="2029968"/>
          </a:xfrm>
          <a:prstGeom prst="roundRect">
            <a:avLst>
              <a:gd name="adj" fmla="val 9910"/>
            </a:avLst>
          </a:prstGeom>
          <a:solidFill>
            <a:srgbClr val="234D9A"/>
          </a:solidFill>
          <a:ln w="15240">
            <a:solidFill>
              <a:srgbClr val="5C8F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0">
            <a:off x="8650224" y="2176272"/>
            <a:ext cx="475488" cy="374904"/>
          </a:xfrm>
          <a:prstGeom prst="roundRect">
            <a:avLst>
              <a:gd name="adj" fmla="val 24390"/>
            </a:avLst>
          </a:prstGeom>
          <a:solidFill>
            <a:srgbClr val="ECC7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-660000">
            <a:off x="9281160" y="2167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 /  CREDIT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 rot="-660000">
            <a:off x="8659368" y="2953512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  ••••  ••••  4829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 rot="-660000">
            <a:off x="8869680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5E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2668" y="5948431"/>
            <a:ext cx="267789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3A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fr-FR" altLang="zh-CN" sz="1400" dirty="0">
                <a:solidFill>
                  <a:srgbClr val="93A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</a:t>
            </a:r>
            <a:r>
              <a:rPr lang="en-US" altLang="zh-CN" sz="1400" dirty="0">
                <a:solidFill>
                  <a:srgbClr val="93A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400" dirty="0">
                <a:solidFill>
                  <a:srgbClr val="93A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Analyst: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AILIXIER KUERBAN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733"/>
            <a:ext cx="12191695" cy="131318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465D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4154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11018520" cy="0"/>
          </a:xfrm>
          <a:prstGeom prst="line">
            <a:avLst/>
          </a:prstGeom>
          <a:noFill/>
          <a:ln w="12700">
            <a:solidFill>
              <a:srgbClr val="DFE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12648" y="1737360"/>
            <a:ext cx="3429000" cy="987552"/>
          </a:xfrm>
          <a:prstGeom prst="roundRect">
            <a:avLst>
              <a:gd name="adj" fmla="val 157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1737360"/>
            <a:ext cx="68580" cy="987552"/>
          </a:xfrm>
          <a:prstGeom prst="rect">
            <a:avLst/>
          </a:prstGeom>
          <a:solidFill>
            <a:srgbClr val="3465DB"/>
          </a:solidFill>
          <a:ln w="12700">
            <a:solidFill>
              <a:srgbClr val="3465D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32104" y="1856232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346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30,000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32104" y="23591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card clients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1737360"/>
            <a:ext cx="3429000" cy="987552"/>
          </a:xfrm>
          <a:prstGeom prst="roundRect">
            <a:avLst>
              <a:gd name="adj" fmla="val 157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52544" y="1737360"/>
            <a:ext cx="68580" cy="987552"/>
          </a:xfrm>
          <a:prstGeom prst="rect">
            <a:avLst/>
          </a:prstGeom>
          <a:solidFill>
            <a:srgbClr val="F5A34A"/>
          </a:solidFill>
          <a:ln w="12700">
            <a:solidFill>
              <a:srgbClr val="F5A3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0" y="1856232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22.12%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72000" y="23591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default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737360"/>
            <a:ext cx="3429000" cy="987552"/>
          </a:xfrm>
          <a:prstGeom prst="roundRect">
            <a:avLst>
              <a:gd name="adj" fmla="val 157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092440" y="1737360"/>
            <a:ext cx="68580" cy="987552"/>
          </a:xfrm>
          <a:prstGeom prst="rect">
            <a:avLst/>
          </a:prstGeom>
          <a:solidFill>
            <a:srgbClr val="11B6B0"/>
          </a:solidFill>
          <a:ln w="12700">
            <a:solidFill>
              <a:srgbClr val="11B6B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311896" y="1856232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B6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month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311896" y="23591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" y="3017520"/>
            <a:ext cx="7040880" cy="2651760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77824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" y="3785616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payments create financial risk. Banks need to identify customers likely to default before the next billing cycle.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" y="4754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514807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interpretable classifier and evaluate how risk scores could guide customer reviews and interventions.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46136" y="3017520"/>
            <a:ext cx="3575304" cy="2651760"/>
          </a:xfrm>
          <a:prstGeom prst="roundRect">
            <a:avLst>
              <a:gd name="adj" fmla="val 5862"/>
            </a:avLst>
          </a:prstGeom>
          <a:solidFill>
            <a:srgbClr val="EDF2FF"/>
          </a:solidFill>
          <a:ln w="12700">
            <a:solidFill>
              <a:srgbClr val="EDF2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29600" y="33009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workflow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3758184"/>
            <a:ext cx="29443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357616" y="3803904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169664"/>
            <a:ext cx="29443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357616" y="4215384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+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4581144"/>
            <a:ext cx="29443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357616" y="4626864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4992624"/>
            <a:ext cx="2944368" cy="310896"/>
          </a:xfrm>
          <a:prstGeom prst="roundRect">
            <a:avLst>
              <a:gd name="adj" fmla="val 23529"/>
            </a:avLst>
          </a:prstGeom>
          <a:solidFill>
            <a:srgbClr val="3465DB"/>
          </a:solidFill>
          <a:ln w="12700">
            <a:solidFill>
              <a:srgbClr val="3465D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357616" y="5038344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201168"/>
            <a:ext cx="10698480" cy="510909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3200" dirty="0">
                <a:solidFill>
                  <a:schemeClr val="bg1"/>
                </a:solidFill>
              </a:rPr>
              <a:t>Exploratory Data Analysis (EDA)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50392"/>
            <a:ext cx="896112" cy="50292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225296"/>
            <a:ext cx="5605272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225296"/>
            <a:ext cx="5605272" cy="46634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5294376" cy="28007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Default Rate by Age Group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" y="1783080"/>
          <a:ext cx="5175504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4581144"/>
            <a:ext cx="5257800" cy="365760"/>
          </a:xfrm>
          <a:prstGeom prst="round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4626864"/>
            <a:ext cx="5074920" cy="26517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ctr">
              <a:spcAft>
                <a:spcPts val="0"/>
              </a:spcAft>
              <a:defRPr sz="1060" b="0">
                <a:solidFill>
                  <a:srgbClr val="1A314C"/>
                </a:solidFill>
                <a:latin typeface="Aptos"/>
              </a:defRPr>
            </a:pPr>
            <a:r>
              <a:rPr>
                <a:solidFill/>
              </a:rPr>
              <a:t>Highest default rate: 61+ (~27%); lowest: 31–40 (~20%).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225296"/>
            <a:ext cx="5605272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63056" y="1225296"/>
            <a:ext cx="5605272" cy="46634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307592"/>
            <a:ext cx="5294376" cy="28007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Default Rate by Recent Repayment Status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82512" y="1783080"/>
          <a:ext cx="5175504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45936" y="4581144"/>
            <a:ext cx="5257800" cy="365760"/>
          </a:xfrm>
          <a:prstGeom prst="round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626864"/>
            <a:ext cx="5074920" cy="26517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ctr">
              <a:spcAft>
                <a:spcPts val="0"/>
              </a:spcAft>
              <a:defRPr sz="1060" b="0">
                <a:solidFill>
                  <a:srgbClr val="1A314C"/>
                </a:solidFill>
                <a:latin typeface="Aptos"/>
              </a:defRPr>
            </a:pPr>
            <a:r>
              <a:rPr>
                <a:solidFill/>
              </a:rPr>
              <a:t>Recent repayment status is strongly associated with default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120640"/>
            <a:ext cx="11356848" cy="1664208"/>
          </a:xfrm>
          <a:prstGeom prst="round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5120640"/>
            <a:ext cx="11356848" cy="338328"/>
          </a:xfrm>
          <a:prstGeom prst="rect">
            <a:avLst/>
          </a:prstGeom>
          <a:solidFill>
            <a:srgbClr val="0E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166360"/>
            <a:ext cx="6400800" cy="243656"/>
          </a:xfrm>
          <a:prstGeom prst="rect">
            <a:avLst/>
          </a:prstGeom>
          <a:noFill/>
        </p:spPr>
        <p:txBody>
          <a:bodyPr wrap="square" lIns="12700" tIns="12700" rIns="1270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KEY TAKEAWAYS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904" y="5522976"/>
            <a:ext cx="11887" cy="1152144"/>
          </a:xfrm>
          <a:prstGeom prst="rect">
            <a:avLst/>
          </a:prstGeom>
          <a:solidFill>
            <a:srgbClr val="A7C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5586984"/>
            <a:ext cx="256032" cy="256032"/>
          </a:xfrm>
          <a:prstGeom prst="ellipse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5550408"/>
            <a:ext cx="4690872" cy="366767"/>
          </a:xfrm>
          <a:prstGeom prst="rect">
            <a:avLst/>
          </a:prstGeom>
          <a:noFill/>
        </p:spPr>
        <p:txBody>
          <a:bodyPr wrap="square" lIns="12700" tIns="12700" rIns="12700" bIns="0">
            <a:spAutoFit/>
          </a:bodyPr>
          <a:lstStyle/>
          <a:p>
            <a:pPr>
              <a:defRPr sz="1150" b="0">
                <a:solidFill>
                  <a:srgbClr val="173354"/>
                </a:solidFill>
                <a:latin typeface="Aptos"/>
              </a:defRPr>
            </a:pPr>
            <a:r>
              <a:rPr lang="en-US" dirty="0"/>
              <a:t>Default rates vary across age groups, with the highest observed rate among customers aged 61+</a:t>
            </a:r>
            <a:endParaRPr dirty="0">
              <a:solidFill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0080" y="6199632"/>
            <a:ext cx="256032" cy="256032"/>
          </a:xfrm>
          <a:prstGeom prst="ellipse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" y="6163056"/>
            <a:ext cx="4690872" cy="384048"/>
          </a:xfrm>
          <a:prstGeom prst="rect">
            <a:avLst/>
          </a:prstGeom>
          <a:noFill/>
        </p:spPr>
        <p:txBody>
          <a:bodyPr wrap="square" lIns="12700" tIns="12700" rIns="12700" bIns="0">
            <a:spAutoFit/>
          </a:bodyPr>
          <a:lstStyle/>
          <a:p>
            <a:pPr>
              <a:defRPr sz="1150" b="0">
                <a:solidFill>
                  <a:srgbClr val="173354"/>
                </a:solidFill>
                <a:latin typeface="Aptos"/>
              </a:defRPr>
            </a:pPr>
            <a:r>
              <a:rPr>
                <a:solidFill/>
              </a:rPr>
              <a:t>Customers aged 31–40 show the lowest default rate (~20%).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5559552"/>
            <a:ext cx="256032" cy="256032"/>
          </a:xfrm>
          <a:prstGeom prst="ellipse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5522976"/>
            <a:ext cx="4754880" cy="338328"/>
          </a:xfrm>
          <a:prstGeom prst="rect">
            <a:avLst/>
          </a:prstGeom>
          <a:noFill/>
        </p:spPr>
        <p:txBody>
          <a:bodyPr wrap="square" lIns="12700" tIns="12700" rIns="12700" bIns="0">
            <a:spAutoFit/>
          </a:bodyPr>
          <a:lstStyle/>
          <a:p>
            <a:pPr>
              <a:defRPr sz="1150" b="0">
                <a:solidFill>
                  <a:srgbClr val="173354"/>
                </a:solidFill>
                <a:latin typeface="Aptos"/>
              </a:defRPr>
            </a:pPr>
            <a:r>
              <a:rPr>
                <a:solidFill/>
              </a:rPr>
              <a:t>Recent repayment status is strongly associated with default risk.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5943600"/>
            <a:ext cx="256032" cy="256032"/>
          </a:xfrm>
          <a:prstGeom prst="ellipse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5907024"/>
            <a:ext cx="4754880" cy="448056"/>
          </a:xfrm>
          <a:prstGeom prst="rect">
            <a:avLst/>
          </a:prstGeom>
          <a:noFill/>
        </p:spPr>
        <p:txBody>
          <a:bodyPr wrap="square" lIns="12700" tIns="12700" rIns="12700" bIns="0">
            <a:spAutoFit/>
          </a:bodyPr>
          <a:lstStyle/>
          <a:p>
            <a:pPr>
              <a:defRPr sz="1150" b="0">
                <a:solidFill>
                  <a:srgbClr val="173354"/>
                </a:solidFill>
                <a:latin typeface="Aptos"/>
              </a:defRPr>
            </a:pPr>
            <a:r>
              <a:rPr>
                <a:solidFill/>
              </a:rPr>
              <a:t>Higher delinquency levels (especially PAY_0 = 2, 3, 4, and 7) correspond to much higher default rates.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6419088"/>
            <a:ext cx="256032" cy="256032"/>
          </a:xfrm>
          <a:prstGeom prst="ellipse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6382512"/>
            <a:ext cx="4754880" cy="365760"/>
          </a:xfrm>
          <a:prstGeom prst="rect">
            <a:avLst/>
          </a:prstGeom>
          <a:noFill/>
        </p:spPr>
        <p:txBody>
          <a:bodyPr wrap="square" lIns="12700" tIns="12700" rIns="12700" bIns="0">
            <a:spAutoFit/>
          </a:bodyPr>
          <a:lstStyle/>
          <a:p>
            <a:pPr>
              <a:defRPr sz="1150" b="0">
                <a:solidFill>
                  <a:srgbClr val="173354"/>
                </a:solidFill>
                <a:latin typeface="Aptos"/>
              </a:defRPr>
            </a:pPr>
            <a:r>
              <a:rPr>
                <a:solidFill/>
              </a:rPr>
              <a:t>Customers with normal or better recent repayment status (-2 to 0) have much lower default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95048"/>
            <a:ext cx="11612880" cy="57246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123958"/>
                </a:solidFill>
                <a:latin typeface="Aptos"/>
              </a:defRPr>
            </a:pPr>
            <a:r>
              <a:rPr sz="3600" dirty="0">
                <a:solidFill>
                  <a:schemeClr val="bg1"/>
                </a:solidFill>
              </a:rPr>
              <a:t>Preprocessing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832104"/>
            <a:ext cx="10698480" cy="21945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From raw customer records to model-ready credit risk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170432"/>
            <a:ext cx="2450592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362456"/>
            <a:ext cx="685800" cy="4297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2700" b="1">
                <a:solidFill>
                  <a:srgbClr val="2675B5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1408176"/>
            <a:ext cx="14173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original predictors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170432"/>
            <a:ext cx="2450592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362456"/>
            <a:ext cx="685800" cy="4297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2700" b="1">
                <a:solidFill>
                  <a:srgbClr val="EF8538"/>
                </a:solidFill>
                <a:latin typeface="Aptos"/>
              </a:defRPr>
            </a:pPr>
            <a:r>
              <a:rPr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4" y="1408176"/>
            <a:ext cx="14173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engineered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170432"/>
            <a:ext cx="2450592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362456"/>
            <a:ext cx="685800" cy="4297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2700" b="1">
                <a:solidFill>
                  <a:srgbClr val="123958"/>
                </a:solidFill>
                <a:latin typeface="Aptos"/>
              </a:defRPr>
            </a:pPr>
            <a:r>
              <a:rPr dirty="0"/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1408176"/>
            <a:ext cx="14173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before encoding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170432"/>
            <a:ext cx="2450592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92056" y="1362456"/>
            <a:ext cx="685800" cy="42976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2700" b="1">
                <a:solidFill>
                  <a:srgbClr val="188D8F"/>
                </a:solidFill>
                <a:latin typeface="Aptos"/>
              </a:defRPr>
            </a:pPr>
            <a:r>
              <a:rPr dirty="0">
                <a:solidFill>
                  <a:schemeClr val="accent2"/>
                </a:solidFill>
              </a:rP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1408176"/>
            <a:ext cx="1417320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after one-hot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1353312"/>
            <a:ext cx="512064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ctr">
              <a:spcAft>
                <a:spcPts val="100"/>
              </a:spcAft>
              <a:defRPr sz="2500" b="1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1353312"/>
            <a:ext cx="512064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ctr">
              <a:spcAft>
                <a:spcPts val="100"/>
              </a:spcAft>
              <a:defRPr sz="2500" b="1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353312"/>
            <a:ext cx="512064" cy="41148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algn="ctr">
              <a:spcAft>
                <a:spcPts val="100"/>
              </a:spcAft>
              <a:defRPr sz="2500" b="1">
                <a:solidFill>
                  <a:srgbClr val="597083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" y="2267712"/>
            <a:ext cx="37947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395728"/>
            <a:ext cx="50292" cy="704088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386584"/>
            <a:ext cx="3419856" cy="18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2675B5"/>
                </a:solidFill>
                <a:latin typeface="Aptos"/>
              </a:defRPr>
            </a:pPr>
            <a:r>
              <a:rPr dirty="0">
                <a:solidFill>
                  <a:schemeClr val="accent1"/>
                </a:solidFill>
              </a:rPr>
              <a:t>BILL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660904"/>
            <a:ext cx="3419856" cy="52120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avg_bill_amount</a:t>
            </a:r>
          </a:p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Mean bill balance across 6 months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4256" y="2267712"/>
            <a:ext cx="37947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2395728"/>
            <a:ext cx="50292" cy="704088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2386584"/>
            <a:ext cx="3419856" cy="18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2675B5"/>
                </a:solidFill>
                <a:latin typeface="Aptos"/>
              </a:defRPr>
            </a:pPr>
            <a:r>
              <a:rPr dirty="0">
                <a:solidFill>
                  <a:schemeClr val="accent1"/>
                </a:solidFill>
              </a:rPr>
              <a:t>PAYMENT BEHAVIOR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60904"/>
            <a:ext cx="3419856" cy="52120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avg_payment_amount</a:t>
            </a:r>
          </a:p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Mean payment across 6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6" y="2267712"/>
            <a:ext cx="37947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58200" y="2395728"/>
            <a:ext cx="50292" cy="704088"/>
          </a:xfrm>
          <a:prstGeom prst="rect">
            <a:avLst/>
          </a:prstGeom>
          <a:solidFill>
            <a:srgbClr val="F5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77072" y="2386584"/>
            <a:ext cx="3419856" cy="18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EF8538"/>
                </a:solidFill>
                <a:latin typeface="Aptos"/>
              </a:defRPr>
            </a:pPr>
            <a:r>
              <a:rPr dirty="0">
                <a:solidFill>
                  <a:schemeClr val="accent1"/>
                </a:solidFill>
              </a:rPr>
              <a:t>REPAYMENT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2660904"/>
            <a:ext cx="3419856" cy="52120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payment_to_bill_ratio</a:t>
            </a:r>
          </a:p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Payments ÷ positive bill totals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" y="3401568"/>
            <a:ext cx="37947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" y="3529584"/>
            <a:ext cx="50292" cy="704088"/>
          </a:xfrm>
          <a:prstGeom prst="rect">
            <a:avLst/>
          </a:prstGeom>
          <a:solidFill>
            <a:srgbClr val="F5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520439"/>
            <a:ext cx="3419856" cy="18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EF8538"/>
                </a:solidFill>
                <a:latin typeface="Aptos"/>
              </a:defRPr>
            </a:pPr>
            <a:r>
              <a:rPr dirty="0">
                <a:solidFill>
                  <a:schemeClr val="accent2"/>
                </a:solidFill>
              </a:rPr>
              <a:t>CREDIT EXPOSURE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3794759"/>
            <a:ext cx="3419856" cy="52120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credit_utilization</a:t>
            </a:r>
          </a:p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Recent bill ÷ credit limit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4256" y="3401568"/>
            <a:ext cx="37947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34840" y="3529584"/>
            <a:ext cx="50292" cy="704088"/>
          </a:xfrm>
          <a:prstGeom prst="rect">
            <a:avLst/>
          </a:prstGeom>
          <a:solidFill>
            <a:srgbClr val="11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53712" y="3520439"/>
            <a:ext cx="3419856" cy="18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88D8F"/>
                </a:solidFill>
                <a:latin typeface="Aptos"/>
              </a:defRPr>
            </a:pPr>
            <a:r>
              <a:rPr dirty="0">
                <a:solidFill>
                  <a:schemeClr val="accent2"/>
                </a:solidFill>
              </a:rPr>
              <a:t>DELINQUENCY SEVERITY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794759"/>
            <a:ext cx="3419856" cy="52120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max_payment_delay</a:t>
            </a:r>
          </a:p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Maximum repayment-status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3401568"/>
            <a:ext cx="37947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458200" y="3529584"/>
            <a:ext cx="50292" cy="704088"/>
          </a:xfrm>
          <a:prstGeom prst="rect">
            <a:avLst/>
          </a:prstGeom>
          <a:solidFill>
            <a:srgbClr val="11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77072" y="3520439"/>
            <a:ext cx="3419856" cy="18774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88D8F"/>
                </a:solidFill>
                <a:latin typeface="Aptos"/>
              </a:defRPr>
            </a:pPr>
            <a:r>
              <a:rPr dirty="0">
                <a:solidFill>
                  <a:schemeClr val="accent2"/>
                </a:solidFill>
              </a:rPr>
              <a:t>DELINQUENCY FREQUENCY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3794759"/>
            <a:ext cx="3419856" cy="52120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months_with_delay</a:t>
            </a:r>
          </a:p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>
                <a:solidFill/>
              </a:rPr>
              <a:t>Number of months with delay &gt; 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896" y="4645152"/>
            <a:ext cx="11567160" cy="1078992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773168"/>
            <a:ext cx="11082528" cy="24688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123958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Leakage-safe preprocessing 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166360"/>
            <a:ext cx="10991088" cy="203133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82C3A"/>
                </a:solidFill>
                <a:latin typeface="Aptos"/>
              </a:defRPr>
            </a:pPr>
            <a:r>
              <a:rPr lang="fr-FR" sz="1200" dirty="0"/>
              <a:t>Train-</a:t>
            </a:r>
            <a:r>
              <a:rPr lang="fr-FR" sz="1200" dirty="0" err="1"/>
              <a:t>only</a:t>
            </a:r>
            <a:r>
              <a:rPr lang="fr-FR" sz="1200" dirty="0"/>
              <a:t> </a:t>
            </a:r>
            <a:r>
              <a:rPr lang="fr-FR" sz="1200" dirty="0" err="1"/>
              <a:t>preprocessing</a:t>
            </a:r>
            <a:r>
              <a:rPr lang="fr-FR" sz="1200" dirty="0"/>
              <a:t> → </a:t>
            </a:r>
            <a:r>
              <a:rPr lang="fr-FR" sz="1200" dirty="0" err="1"/>
              <a:t>Median</a:t>
            </a:r>
            <a:r>
              <a:rPr lang="fr-FR" sz="1200" dirty="0"/>
              <a:t> / mode imputation → </a:t>
            </a:r>
            <a:r>
              <a:rPr lang="fr-FR" sz="1200" dirty="0" err="1"/>
              <a:t>StandardScaler</a:t>
            </a:r>
            <a:r>
              <a:rPr lang="fr-FR" sz="1200" dirty="0"/>
              <a:t> + </a:t>
            </a:r>
            <a:r>
              <a:rPr lang="fr-FR" sz="1200" dirty="0" err="1"/>
              <a:t>One-Hot</a:t>
            </a:r>
            <a:r>
              <a:rPr lang="fr-FR" sz="1200" dirty="0"/>
              <a:t> </a:t>
            </a:r>
            <a:r>
              <a:rPr lang="fr-FR" sz="1200" dirty="0" err="1"/>
              <a:t>Encoding</a:t>
            </a:r>
            <a:endParaRPr sz="1200" dirty="0">
              <a:solidFill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0896" y="5916168"/>
            <a:ext cx="115671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3776" y="6025896"/>
            <a:ext cx="11045952" cy="233910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123958"/>
                </a:solidFill>
                <a:latin typeface="Aptos"/>
              </a:defRPr>
            </a:pPr>
            <a:r>
              <a:rPr lang="en-US" sz="1400" dirty="0"/>
              <a:t>DATA QUALITY — No missing or infinite values after transformation • Preprocessing fitted on training data only</a:t>
            </a:r>
            <a:endParaRPr sz="1400" dirty="0">
              <a:solid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" y="950976"/>
            <a:ext cx="109728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Three complementary classifiers  •  Stratified evaluation  •  F1-led model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89888"/>
            <a:ext cx="3794760" cy="2871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" y="1627632"/>
            <a:ext cx="603504" cy="603504"/>
          </a:xfrm>
          <a:prstGeom prst="roundRect">
            <a:avLst>
              <a:gd name="adj" fmla="val 9000"/>
            </a:avLst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792224"/>
            <a:ext cx="530352" cy="21945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27632"/>
            <a:ext cx="2779776" cy="41148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SGDClassifier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383280" cy="237744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37DBB"/>
                </a:solidFill>
                <a:latin typeface="Aptos"/>
              </a:defRPr>
            </a:pPr>
            <a:r>
              <a:rPr>
                <a:solidFill/>
              </a:rPr>
              <a:t>LINEAR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2"/>
            <a:ext cx="3310128" cy="566928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Fast logistic-loss classifier trained with stochastic gradient descent.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00984"/>
            <a:ext cx="3328416" cy="43891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4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Standardised numeric inputs • interpretable linear decision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3831336"/>
            <a:ext cx="54864" cy="274320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03904"/>
            <a:ext cx="3182112" cy="35661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A simple reference model for evaluating added complexity.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389888"/>
            <a:ext cx="3794760" cy="2871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1627632"/>
            <a:ext cx="603504" cy="603504"/>
          </a:xfrm>
          <a:prstGeom prst="roundRect">
            <a:avLst>
              <a:gd name="adj" fmla="val 9000"/>
            </a:avLst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792224"/>
            <a:ext cx="530352" cy="21945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627632"/>
            <a:ext cx="2779776" cy="41148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331720"/>
            <a:ext cx="3383280" cy="237744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37DBB"/>
                </a:solidFill>
                <a:latin typeface="Aptos"/>
              </a:defRPr>
            </a:pPr>
            <a:r>
              <a:rPr>
                <a:solidFill/>
              </a:rPr>
              <a:t>NON-LINEAR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679192"/>
            <a:ext cx="3310128" cy="566928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Ensemble of 200 decision trees using bootstrap aggregation.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300984"/>
            <a:ext cx="3328416" cy="43891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4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Captures nonlinear patterns and feature interactions.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98264" y="3831336"/>
            <a:ext cx="54864" cy="274320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3803904"/>
            <a:ext cx="3182112" cy="35661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Compare predictive gains against the risk of overfitting.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1389888"/>
            <a:ext cx="3794760" cy="2871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02752" y="1627632"/>
            <a:ext cx="603504" cy="603504"/>
          </a:xfrm>
          <a:prstGeom prst="roundRect">
            <a:avLst>
              <a:gd name="adj" fmla="val 9000"/>
            </a:avLst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1" y="1792224"/>
            <a:ext cx="530352" cy="21945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XGB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1627632"/>
            <a:ext cx="2779776" cy="41148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2331720"/>
            <a:ext cx="3383280" cy="237744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58B25"/>
                </a:solidFill>
                <a:latin typeface="Aptos"/>
              </a:defRPr>
            </a:pPr>
            <a:r>
              <a:rPr>
                <a:solidFill/>
              </a:rPr>
              <a:t>BOOSTED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2679192"/>
            <a:ext cx="3310128" cy="566928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Sequential gradient-boosted trees for binary default prediction.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3300984"/>
            <a:ext cx="3328416" cy="43891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4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Models complex interactions; supports parameter search and class weighting.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3831336"/>
            <a:ext cx="54864" cy="274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3803904"/>
            <a:ext cx="3182112" cy="35661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05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Chosen for further tuning and cost-sensitive evaluation.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462272"/>
            <a:ext cx="5742432" cy="20299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72200" y="4462272"/>
            <a:ext cx="5742432" cy="20299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608576"/>
            <a:ext cx="5303520" cy="41148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◉  Evaluation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" y="5074920"/>
            <a:ext cx="5285232" cy="384048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26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F1-score  •  primary tuning objective: balances Precision and Recall.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" y="5449824"/>
            <a:ext cx="5276088" cy="923544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Recall measures detected defaults; Precision limits false alerts.</a:t>
            </a:r>
          </a:p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ROC-AUC checks probability ranking; confusion matrix reveals FN/FP.</a:t>
            </a:r>
          </a:p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Accuracy is secondary: only 22.12% of customers default.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4608576"/>
            <a:ext cx="5212080" cy="41148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0283E"/>
                </a:solidFill>
                <a:latin typeface="Aptos"/>
              </a:defRPr>
            </a:pPr>
            <a:r>
              <a:rPr>
                <a:solidFill/>
              </a:rPr>
              <a:t>▣  Validation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4942165"/>
            <a:ext cx="5029200" cy="31089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283E"/>
                </a:solidFill>
                <a:latin typeface="Aptos"/>
              </a:defRPr>
            </a:pPr>
            <a:r>
              <a:rPr dirty="0">
                <a:solidFill/>
              </a:rPr>
              <a:t>80 / 20 stratified train–test split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5353645"/>
            <a:ext cx="5239512" cy="940257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 dirty="0">
                <a:solidFill/>
              </a:rPr>
              <a:t>24,000 training rows  |  6,000 held-out test rows</a:t>
            </a:r>
          </a:p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 dirty="0">
                <a:solidFill/>
              </a:rPr>
              <a:t>3-fold Stratified CV for Random &amp; Grid Search (F1).</a:t>
            </a:r>
          </a:p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5-fold Stratified CV to assess tuned-model stability.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500"/>
              </a:spcAft>
              <a:defRPr sz="1170" b="0">
                <a:solidFill>
                  <a:srgbClr val="52657B"/>
                </a:solidFill>
                <a:latin typeface="Aptos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Training-only CV for tuning; final performance reported on held-out test set.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02336" y="6611112"/>
            <a:ext cx="10058400" cy="18288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57B"/>
                </a:solidFill>
                <a:latin typeface="Aptos"/>
              </a:defRPr>
            </a:pPr>
            <a:r>
              <a:rPr>
                <a:solidFill/>
              </a:rPr>
              <a:t>Credit card default prediction   •   Target: 1 = Default / 0 = No Default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3EEB635-180A-473C-B0A6-A06C388F0EC6}"/>
              </a:ext>
            </a:extLst>
          </p:cNvPr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F31DAAB6-62BD-4A63-A355-9F8CDB678DD0}"/>
              </a:ext>
            </a:extLst>
          </p:cNvPr>
          <p:cNvSpPr txBox="1"/>
          <p:nvPr/>
        </p:nvSpPr>
        <p:spPr>
          <a:xfrm>
            <a:off x="475488" y="192557"/>
            <a:ext cx="10972800" cy="52014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0283E"/>
                </a:solidFill>
                <a:latin typeface="Aptos"/>
              </a:defRPr>
            </a:pPr>
            <a:r>
              <a:rPr sz="3200" dirty="0">
                <a:solidFill>
                  <a:schemeClr val="bg1"/>
                </a:solidFill>
              </a:rPr>
              <a:t>Models &amp; Evaluation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850392"/>
            <a:ext cx="11338560" cy="292608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XGBoost optimisation  |  Stratified cross-validation  |  F1-score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35024"/>
            <a:ext cx="5907024" cy="1362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55064"/>
            <a:ext cx="630936" cy="630936"/>
          </a:xfrm>
          <a:prstGeom prst="roundRect">
            <a:avLst/>
          </a:prstGeom>
          <a:solidFill>
            <a:srgbClr val="F5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630936" cy="350865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53895"/>
            <a:ext cx="4572000" cy="320040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293D"/>
                </a:solidFill>
                <a:latin typeface="Aptos"/>
              </a:defRPr>
            </a:pPr>
            <a:r>
              <a:rPr>
                <a:solidFill/>
              </a:rPr>
              <a:t>Randomized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801368"/>
            <a:ext cx="4572000" cy="256032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20 candidates × 3-fold CV = 60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084831"/>
            <a:ext cx="4617720" cy="256032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E7DB8"/>
                </a:solidFill>
                <a:latin typeface="Aptos"/>
              </a:defRPr>
            </a:pPr>
            <a:r>
              <a:rPr>
                <a:solidFill/>
              </a:rPr>
              <a:t>Best CV F1: 0.4751  •  depth 3, learning rate 0.10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340864"/>
            <a:ext cx="4572000" cy="237744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300 trees  •  subsample 0.8  •  colsample 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52928"/>
            <a:ext cx="5907024" cy="1362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3172968"/>
            <a:ext cx="630936" cy="630936"/>
          </a:xfrm>
          <a:prstGeom prst="roundRect">
            <a:avLst/>
          </a:prstGeom>
          <a:solidFill>
            <a:srgbClr val="F5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630936" cy="350865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971800"/>
            <a:ext cx="4572000" cy="320040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293D"/>
                </a:solidFill>
                <a:latin typeface="Aptos"/>
              </a:defRPr>
            </a:pPr>
            <a:r>
              <a:rPr>
                <a:solidFill/>
              </a:rPr>
              <a:t>Grid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319272"/>
            <a:ext cx="4572000" cy="256032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36 candidates × 3-fold CV = 108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3602736"/>
            <a:ext cx="4617720" cy="256032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E7DB8"/>
                </a:solidFill>
                <a:latin typeface="Aptos"/>
              </a:defRPr>
            </a:pPr>
            <a:r>
              <a:rPr>
                <a:solidFill/>
              </a:rPr>
              <a:t>Best CV F1: 0.4776  (+0.0025)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858768"/>
            <a:ext cx="4572000" cy="237744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depth 4  •  learning rate 0.10  •  min_child_weight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370831"/>
            <a:ext cx="5907024" cy="1362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4690871"/>
            <a:ext cx="630936" cy="630936"/>
          </a:xfrm>
          <a:prstGeom prst="roundRect">
            <a:avLst/>
          </a:prstGeom>
          <a:solidFill>
            <a:srgbClr val="F5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764023"/>
            <a:ext cx="630936" cy="350865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4489703"/>
            <a:ext cx="4572000" cy="320040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293D"/>
                </a:solidFill>
                <a:latin typeface="Aptos"/>
              </a:defRPr>
            </a:pPr>
            <a:r>
              <a:rPr>
                <a:solidFill/>
              </a:rPr>
              <a:t>Manual Class-Weight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837175"/>
            <a:ext cx="4572000" cy="256032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7 weights tested  •  5-fold 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5120640"/>
            <a:ext cx="4617720" cy="256032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E7DB8"/>
                </a:solidFill>
                <a:latin typeface="Aptos"/>
              </a:defRPr>
            </a:pPr>
            <a:r>
              <a:rPr>
                <a:solidFill/>
              </a:rPr>
              <a:t>Best weight: 2.50  •  CV F1: 0.5451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376671"/>
            <a:ext cx="4572000" cy="237744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CV Precision 52.61%  •  CV Recall 56.56%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335024"/>
            <a:ext cx="5559552" cy="37856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8" y="1499616"/>
            <a:ext cx="5166360" cy="310896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293D"/>
                </a:solidFill>
                <a:latin typeface="Aptos"/>
              </a:defRPr>
            </a:pPr>
            <a:r>
              <a:rPr>
                <a:solidFill/>
              </a:rPr>
              <a:t>CV Precision vs Recall by Class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1828800"/>
            <a:ext cx="5120640" cy="237744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Default class (5-fold CV)  •  Percent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565392" y="2157984"/>
          <a:ext cx="5056632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355080" y="5285232"/>
            <a:ext cx="5559552" cy="1197864"/>
          </a:xfrm>
          <a:prstGeom prst="roundRect">
            <a:avLst/>
          </a:prstGeom>
          <a:solidFill>
            <a:srgbClr val="0B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92824" y="5431536"/>
            <a:ext cx="1828800" cy="196977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78D24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KEY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5687568"/>
            <a:ext cx="5074920" cy="466281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Class weighting improved default Recall from 37.30% to 57.12%,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while test F1 reached 0.5457 (vs 0.4790 unweighted).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6007608"/>
            <a:ext cx="5907024" cy="475488"/>
          </a:xfrm>
          <a:prstGeom prst="roundRect">
            <a:avLst/>
          </a:prstGeom>
          <a:solidFill>
            <a:srgbClr val="E5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117336"/>
            <a:ext cx="5532120" cy="246888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293D"/>
                </a:solidFill>
                <a:latin typeface="Aptos"/>
              </a:defRPr>
            </a:pPr>
            <a:r>
              <a:rPr>
                <a:solidFill/>
              </a:rPr>
              <a:t>Selected: scale_pos_weight = 2.50  •  Test ROC-AUC = 0.7818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6592824"/>
            <a:ext cx="11338560" cy="182880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4677A"/>
                </a:solidFill>
                <a:latin typeface="Aptos"/>
              </a:defRPr>
            </a:pPr>
            <a:r>
              <a:rPr>
                <a:solidFill/>
              </a:rPr>
              <a:t>Source: project notebook  •  CV metrics are training-only; final metrics use the held-out test set.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368199-4E5B-42F7-82A2-997CC9D909B2}"/>
              </a:ext>
            </a:extLst>
          </p:cNvPr>
          <p:cNvSpPr/>
          <p:nvPr/>
        </p:nvSpPr>
        <p:spPr>
          <a:xfrm>
            <a:off x="0" y="0"/>
            <a:ext cx="12191695" cy="8503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2">
            <a:extLst>
              <a:ext uri="{FF2B5EF4-FFF2-40B4-BE49-F238E27FC236}">
                <a16:creationId xmlns:a16="http://schemas.microsoft.com/office/drawing/2014/main" id="{42A4A371-B83F-476D-A5A0-3EFC4506C9B9}"/>
              </a:ext>
            </a:extLst>
          </p:cNvPr>
          <p:cNvSpPr txBox="1"/>
          <p:nvPr/>
        </p:nvSpPr>
        <p:spPr>
          <a:xfrm>
            <a:off x="292608" y="182880"/>
            <a:ext cx="11521440" cy="504754"/>
          </a:xfrm>
          <a:prstGeom prst="rect">
            <a:avLst/>
          </a:prstGeom>
          <a:noFill/>
        </p:spPr>
        <p:txBody>
          <a:bodyPr wrap="square" lIns="18288" tIns="27432" rIns="18288" bIns="0">
            <a:spAutoFit/>
          </a:bodyPr>
          <a:lstStyle/>
          <a:p>
            <a:pPr>
              <a:spcAft>
                <a:spcPts val="300"/>
              </a:spcAft>
              <a:defRPr sz="3100" b="1">
                <a:solidFill>
                  <a:srgbClr val="11293D"/>
                </a:solidFill>
                <a:latin typeface="Georgia"/>
              </a:defRPr>
            </a:pPr>
            <a:r>
              <a:rPr dirty="0">
                <a:solidFill>
                  <a:schemeClr val="bg1"/>
                </a:solidFill>
              </a:rPr>
              <a:t>Hyperparameter Tuning &amp; Class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033271"/>
            <a:ext cx="118872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4592" y="1234440"/>
            <a:ext cx="58064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8064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" y="1426855"/>
            <a:ext cx="1417320" cy="274320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14173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950" b="1" dirty="0">
                <a:solidFill>
                  <a:srgbClr val="3465DB"/>
                </a:solidFill>
                <a:latin typeface="Aptos"/>
              </a:rPr>
              <a:t>GLOBAL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71907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733"/>
                </a:solidFill>
                <a:latin typeface="Aptos"/>
              </a:rPr>
              <a:t>SHAP Summary Plot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1426855"/>
            <a:ext cx="1325880" cy="274320"/>
          </a:xfrm>
          <a:prstGeom prst="roundRect">
            <a:avLst/>
          </a:prstGeom>
          <a:solidFill>
            <a:srgbClr val="EA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453113"/>
            <a:ext cx="13990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950" b="1" dirty="0">
                <a:solidFill>
                  <a:srgbClr val="11B6B0"/>
                </a:solidFill>
                <a:latin typeface="Aptos"/>
              </a:rPr>
              <a:t>LOCAL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190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733"/>
                </a:solidFill>
                <a:latin typeface="Aptos"/>
              </a:rPr>
              <a:t>SHAP Waterfall Plot</a:t>
            </a:r>
          </a:p>
        </p:txBody>
      </p:sp>
      <p:pic>
        <p:nvPicPr>
          <p:cNvPr id="14" name="Picture 13" descr="2f29bdfa-9235-5be6-a5fc-00814812a0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257800" cy="3063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039021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dirty="0">
                <a:solidFill>
                  <a:srgbClr val="56657B"/>
                </a:solidFill>
                <a:latin typeface="Aptos"/>
              </a:rPr>
              <a:t>Global view: the model is driven mainly by repayment-delay history, credit utilization, and bill/payment variables.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012747"/>
            <a:ext cx="5230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/>
              <a:t>Local view: SHAP values explain how individual features shift the model output from its baseline prediction.</a:t>
            </a:r>
            <a:endParaRPr sz="930" b="0" dirty="0">
              <a:solidFill>
                <a:srgbClr val="56657B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4592" y="5486400"/>
            <a:ext cx="118597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5486400"/>
            <a:ext cx="109728" cy="1005840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557784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733"/>
                </a:solidFill>
                <a:latin typeface="Aptos"/>
              </a:rPr>
              <a:t>Business Meaning</a:t>
            </a:r>
          </a:p>
        </p:txBody>
      </p:sp>
      <p:sp>
        <p:nvSpPr>
          <p:cNvPr id="20" name="Oval 19"/>
          <p:cNvSpPr/>
          <p:nvPr/>
        </p:nvSpPr>
        <p:spPr>
          <a:xfrm>
            <a:off x="402336" y="5897880"/>
            <a:ext cx="91440" cy="91440"/>
          </a:xfrm>
          <a:prstGeom prst="ellipse">
            <a:avLst/>
          </a:prstGeom>
          <a:solidFill>
            <a:srgbClr val="11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815584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Credit utilization and billing behavior provide additional risk signals, supporting earlier monitoring and intervention.</a:t>
            </a:r>
            <a:endParaRPr sz="1030" b="0" dirty="0">
              <a:solidFill>
                <a:srgbClr val="56657B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160520" y="5897880"/>
            <a:ext cx="91440" cy="91440"/>
          </a:xfrm>
          <a:prstGeom prst="ellipse">
            <a:avLst/>
          </a:prstGeom>
          <a:solidFill>
            <a:srgbClr val="11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6824" y="5815584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Credit utilization and billing behavior provide additional risk signals, supporting earlier monitoring and intervention.</a:t>
            </a:r>
            <a:endParaRPr sz="103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973568" y="5897880"/>
            <a:ext cx="91440" cy="91440"/>
          </a:xfrm>
          <a:prstGeom prst="ellipse">
            <a:avLst/>
          </a:prstGeom>
          <a:solidFill>
            <a:srgbClr val="11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5815584"/>
            <a:ext cx="3657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/>
              <a:t>SHAP supports more transparent risk assessments and targeted customer reviews.</a:t>
            </a:r>
            <a:endParaRPr sz="1030" b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12CB03-FA36-4AD1-98BE-057E9B281DF4}"/>
              </a:ext>
            </a:extLst>
          </p:cNvPr>
          <p:cNvSpPr/>
          <p:nvPr/>
        </p:nvSpPr>
        <p:spPr>
          <a:xfrm>
            <a:off x="0" y="0"/>
            <a:ext cx="12191695" cy="9875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434E8874-CE1C-4427-A464-C868067BDB70}"/>
              </a:ext>
            </a:extLst>
          </p:cNvPr>
          <p:cNvSpPr txBox="1"/>
          <p:nvPr/>
        </p:nvSpPr>
        <p:spPr>
          <a:xfrm>
            <a:off x="347472" y="146162"/>
            <a:ext cx="420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Aptos Display"/>
              </a:rPr>
              <a:t>Model Interpretation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A2EB944-A1B7-47D2-9D4B-9BF9AE43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00" y="1978554"/>
            <a:ext cx="4353120" cy="3026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4592" y="1060704"/>
            <a:ext cx="1188720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6032" y="1353312"/>
            <a:ext cx="3675887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353312"/>
            <a:ext cx="64008" cy="941832"/>
          </a:xfrm>
          <a:prstGeom prst="rect">
            <a:avLst/>
          </a:prstGeom>
          <a:solidFill>
            <a:srgbClr val="11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5179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B6B0"/>
                </a:solidFill>
                <a:latin typeface="Aptos"/>
              </a:rPr>
              <a:t>+263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4368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6657B"/>
                </a:solidFill>
                <a:latin typeface="Aptos"/>
              </a:rPr>
              <a:t>Additional actual defaults found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1353312"/>
            <a:ext cx="3675887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50791" y="1353312"/>
            <a:ext cx="64008" cy="941832"/>
          </a:xfrm>
          <a:prstGeom prst="rect">
            <a:avLst/>
          </a:prstGeom>
          <a:solidFill>
            <a:srgbClr val="F5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45552" y="1353312"/>
            <a:ext cx="3675887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45552" y="1353312"/>
            <a:ext cx="64008" cy="941832"/>
          </a:xfrm>
          <a:prstGeom prst="rect">
            <a:avLst/>
          </a:prstGeom>
          <a:solidFill>
            <a:srgbClr val="346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008" y="15179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65DB"/>
                </a:solidFill>
                <a:latin typeface="Aptos"/>
              </a:rPr>
              <a:t>€240.6k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869948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6657B"/>
                </a:solidFill>
                <a:latin typeface="Aptos"/>
              </a:rPr>
              <a:t>Illustrative lower error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" y="2542032"/>
            <a:ext cx="5650992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45352" y="2542032"/>
            <a:ext cx="5650992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6071" y="2706623"/>
            <a:ext cx="1760729" cy="571503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" y="2868918"/>
            <a:ext cx="17607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1B6B0"/>
                </a:solidFill>
                <a:latin typeface="Aptos"/>
              </a:rPr>
              <a:t>COST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1" y="2706623"/>
            <a:ext cx="1642195" cy="571503"/>
          </a:xfrm>
          <a:prstGeom prst="roundRect">
            <a:avLst/>
          </a:prstGeom>
          <a:solidFill>
            <a:srgbClr val="ED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4988" y="2857377"/>
            <a:ext cx="13468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1" dirty="0">
                <a:solidFill>
                  <a:srgbClr val="3465DB"/>
                </a:solidFill>
                <a:latin typeface="Aptos"/>
              </a:rPr>
              <a:t>SENSITIVITY TEST</a:t>
            </a:r>
          </a:p>
        </p:txBody>
      </p:sp>
      <p:pic>
        <p:nvPicPr>
          <p:cNvPr id="26" name="Picture 25" descr="73a0493d-92dd-5b12-a5a3-cccd93e747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278127"/>
            <a:ext cx="5358384" cy="28537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343398" y="1453896"/>
            <a:ext cx="24963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B1733"/>
                </a:solidFill>
                <a:latin typeface="Aptos"/>
              </a:rPr>
              <a:t>Cost</a:t>
            </a:r>
            <a:r>
              <a:rPr lang="fr-FR" sz="1500" b="1" dirty="0">
                <a:solidFill>
                  <a:srgbClr val="0B1733"/>
                </a:solidFill>
                <a:latin typeface="Aptos"/>
              </a:rPr>
              <a:t> </a:t>
            </a:r>
            <a:r>
              <a:rPr lang="fr-FR" sz="1500" b="1" dirty="0" err="1">
                <a:solidFill>
                  <a:srgbClr val="0B1733"/>
                </a:solidFill>
                <a:latin typeface="Aptos"/>
              </a:rPr>
              <a:t>assumptions</a:t>
            </a:r>
            <a:endParaRPr sz="1500" b="1" dirty="0">
              <a:solidFill>
                <a:srgbClr val="0F214A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57114" y="175475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56657B"/>
                </a:solidFill>
                <a:latin typeface="Aptos"/>
              </a:rPr>
              <a:t>Missed default (FN): €1,000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0" y="196596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56657B"/>
                </a:solidFill>
                <a:latin typeface="Aptos"/>
              </a:rPr>
              <a:t>False alarm (FP): €50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" y="6483096"/>
            <a:ext cx="5212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D35B68"/>
                </a:solidFill>
                <a:latin typeface="Aptos"/>
              </a:rPr>
              <a:t>Illustrative simulation — not observed financial savings.</a:t>
            </a:r>
          </a:p>
        </p:txBody>
      </p:sp>
      <p:pic>
        <p:nvPicPr>
          <p:cNvPr id="39" name="Image 0" descr="/mnt/data/ml_assets/cell_224_0.png">
            <a:extLst>
              <a:ext uri="{FF2B5EF4-FFF2-40B4-BE49-F238E27FC236}">
                <a16:creationId xmlns:a16="http://schemas.microsoft.com/office/drawing/2014/main" id="{AC960BE0-6EA3-4CD4-8AFF-0DCE6651D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12" y="3278127"/>
            <a:ext cx="5527964" cy="278201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CC6D25C-7A4C-4645-B32D-2772030B3EB4}"/>
              </a:ext>
            </a:extLst>
          </p:cNvPr>
          <p:cNvSpPr/>
          <p:nvPr/>
        </p:nvSpPr>
        <p:spPr>
          <a:xfrm>
            <a:off x="0" y="1"/>
            <a:ext cx="12191695" cy="935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2">
            <a:extLst>
              <a:ext uri="{FF2B5EF4-FFF2-40B4-BE49-F238E27FC236}">
                <a16:creationId xmlns:a16="http://schemas.microsoft.com/office/drawing/2014/main" id="{F6C14447-BA53-43AB-A68B-4C2E69C05711}"/>
              </a:ext>
            </a:extLst>
          </p:cNvPr>
          <p:cNvSpPr txBox="1"/>
          <p:nvPr/>
        </p:nvSpPr>
        <p:spPr>
          <a:xfrm>
            <a:off x="256032" y="197037"/>
            <a:ext cx="3474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Aptos Display"/>
              </a:rPr>
              <a:t>Business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94360" y="1156885"/>
            <a:ext cx="11018520" cy="0"/>
          </a:xfrm>
          <a:prstGeom prst="line">
            <a:avLst/>
          </a:prstGeom>
          <a:noFill/>
          <a:ln w="12700">
            <a:solidFill>
              <a:srgbClr val="DFE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7512" y="1770041"/>
            <a:ext cx="355701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Shape 6"/>
          <p:cNvSpPr/>
          <p:nvPr/>
        </p:nvSpPr>
        <p:spPr>
          <a:xfrm>
            <a:off x="667512" y="1728216"/>
            <a:ext cx="3557016" cy="100584"/>
          </a:xfrm>
          <a:prstGeom prst="rect">
            <a:avLst/>
          </a:prstGeom>
          <a:solidFill>
            <a:srgbClr val="11B6B0"/>
          </a:solidFill>
          <a:ln w="12700">
            <a:solidFill>
              <a:srgbClr val="15A98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B6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51.05% clients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734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9.37% default </a:t>
            </a:r>
            <a:r>
              <a:rPr lang="fr-FR" altLang="zh-CN" sz="16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</a:t>
            </a:r>
            <a:r>
              <a:rPr lang="en-US" altLang="zh-CN" sz="1600" b="1" dirty="0" err="1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07992" y="1728216"/>
            <a:ext cx="355701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07992" y="1728216"/>
            <a:ext cx="3557016" cy="100584"/>
          </a:xfrm>
          <a:prstGeom prst="rect">
            <a:avLst/>
          </a:prstGeom>
          <a:solidFill>
            <a:srgbClr val="F5A34A"/>
          </a:solidFill>
          <a:ln w="12700">
            <a:solidFill>
              <a:srgbClr val="F5A3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54880" y="1984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31.70% clients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734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21.77% default rate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48472" y="1728216"/>
            <a:ext cx="355701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48472" y="1728216"/>
            <a:ext cx="3557016" cy="100584"/>
          </a:xfrm>
          <a:prstGeom prst="rect">
            <a:avLst/>
          </a:prstGeom>
          <a:solidFill>
            <a:srgbClr val="D35B68"/>
          </a:solidFill>
          <a:ln w="12700">
            <a:solidFill>
              <a:srgbClr val="D35B6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95360" y="1984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35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17.25% clients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2734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60.48% default rate</a:t>
            </a:r>
            <a:endParaRPr lang="en-US" sz="1600" dirty="0"/>
          </a:p>
        </p:txBody>
      </p:sp>
      <p:pic>
        <p:nvPicPr>
          <p:cNvPr id="22" name="Image 0" descr="/mnt/data/ml_assets/cell_24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78801"/>
            <a:ext cx="6537960" cy="308542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301992" y="3308180"/>
            <a:ext cx="4603496" cy="3026663"/>
          </a:xfrm>
          <a:prstGeom prst="roundRect">
            <a:avLst>
              <a:gd name="adj" fmla="val 6367"/>
            </a:avLst>
          </a:prstGeom>
          <a:solidFill>
            <a:srgbClr val="EDF2FF"/>
          </a:solidFill>
          <a:ln w="12700">
            <a:solidFill>
              <a:srgbClr val="EDF2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659285" y="3337560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strategy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603236" y="3749040"/>
            <a:ext cx="77724" cy="77724"/>
          </a:xfrm>
          <a:prstGeom prst="roundRect">
            <a:avLst>
              <a:gd name="adj" fmla="val 200000"/>
            </a:avLst>
          </a:prstGeom>
          <a:solidFill>
            <a:srgbClr val="11B6B0"/>
          </a:solidFill>
          <a:ln w="12700">
            <a:solidFill>
              <a:srgbClr val="11B6B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7772400" y="3685031"/>
            <a:ext cx="326440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HIGH RISK</a:t>
            </a:r>
            <a:br>
              <a:rPr lang="en-US" sz="1400" dirty="0"/>
            </a:br>
            <a:r>
              <a:rPr lang="en-US" sz="1400" dirty="0"/>
              <a:t>Prioritize manual review and targeted interventions.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616952" y="4517474"/>
            <a:ext cx="77724" cy="77724"/>
          </a:xfrm>
          <a:prstGeom prst="roundRect">
            <a:avLst>
              <a:gd name="adj" fmla="val 200000"/>
            </a:avLst>
          </a:prstGeom>
          <a:solidFill>
            <a:srgbClr val="11B6B0"/>
          </a:solidFill>
          <a:ln w="12700">
            <a:solidFill>
              <a:srgbClr val="11B6B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772400" y="5262032"/>
            <a:ext cx="3867912" cy="689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RESOURCE EFFICIENCY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Top 500 ranked clients: 72.2% actual defaults — approximately 3.3× the random-selection baseline.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8293" y="646480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46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500 ranked clients: 361 actual defaults identified </a:t>
            </a:r>
            <a:r>
              <a:rPr lang="en-US" sz="1100" b="1" dirty="0">
                <a:solidFill>
                  <a:schemeClr val="accent1"/>
                </a:solidFill>
              </a:rPr>
              <a:t>vs 111 expected from random selection</a:t>
            </a:r>
            <a:r>
              <a:rPr lang="en-US" sz="1100" b="1" dirty="0">
                <a:solidFill>
                  <a:srgbClr val="346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C39B92-9F26-4FB3-A315-1DD414F0A3F2}"/>
              </a:ext>
            </a:extLst>
          </p:cNvPr>
          <p:cNvSpPr/>
          <p:nvPr/>
        </p:nvSpPr>
        <p:spPr>
          <a:xfrm>
            <a:off x="0" y="0"/>
            <a:ext cx="12191695" cy="1106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5F88CDE1-289B-466D-87EA-573C5525A107}"/>
              </a:ext>
            </a:extLst>
          </p:cNvPr>
          <p:cNvSpPr/>
          <p:nvPr/>
        </p:nvSpPr>
        <p:spPr>
          <a:xfrm>
            <a:off x="667512" y="217255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Management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373B2A72-712A-4CEB-AA48-2AC9D2906AF6}"/>
              </a:ext>
            </a:extLst>
          </p:cNvPr>
          <p:cNvSpPr/>
          <p:nvPr/>
        </p:nvSpPr>
        <p:spPr>
          <a:xfrm>
            <a:off x="7772400" y="4443008"/>
            <a:ext cx="3264408" cy="689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MEDIUM RISK</a:t>
            </a:r>
          </a:p>
          <a:p>
            <a:pPr marL="0" indent="0">
              <a:buNone/>
            </a:pPr>
            <a:r>
              <a:rPr lang="en-US" sz="1400" dirty="0"/>
              <a:t>Send automated reminders and monitor repayment behavior.</a:t>
            </a:r>
            <a:endParaRPr lang="en-US" sz="130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49652CDE-1514-4A94-A9FD-E61A8A1B3B3A}"/>
              </a:ext>
            </a:extLst>
          </p:cNvPr>
          <p:cNvSpPr/>
          <p:nvPr/>
        </p:nvSpPr>
        <p:spPr>
          <a:xfrm>
            <a:off x="7600950" y="5310546"/>
            <a:ext cx="77724" cy="77724"/>
          </a:xfrm>
          <a:prstGeom prst="roundRect">
            <a:avLst>
              <a:gd name="adj" fmla="val 200000"/>
            </a:avLst>
          </a:prstGeom>
          <a:solidFill>
            <a:srgbClr val="11B6B0"/>
          </a:solidFill>
          <a:ln w="12700">
            <a:solidFill>
              <a:srgbClr val="11B6B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" y="594360"/>
            <a:ext cx="73152" cy="5166360"/>
          </a:xfrm>
          <a:prstGeom prst="rect">
            <a:avLst/>
          </a:prstGeom>
          <a:solidFill>
            <a:srgbClr val="11B6B0"/>
          </a:solidFill>
          <a:ln w="12700">
            <a:solidFill>
              <a:srgbClr val="11B6B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7955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79DC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FUTURE 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5710" y="1447080"/>
            <a:ext cx="5257124" cy="99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Toward real-world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97153" y="2472267"/>
            <a:ext cx="4990701" cy="2845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D8E4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validation with more recent, representative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D8E4F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Probability calibration, threshold optimization, and fairness assessment.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Model monitoring and pilot interventions to evaluate real-world outcomes.</a:t>
            </a:r>
            <a:endParaRPr lang="en-US" sz="1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D8E4F7"/>
              </a:solidFill>
              <a:latin typeface="Aptos" pitchFamily="34" charset="0"/>
              <a:ea typeface="Aptos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2574460"/>
            <a:ext cx="5137573" cy="316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</a:t>
            </a:r>
            <a:r>
              <a:rPr lang="fr-FR" b="1" dirty="0">
                <a:solidFill>
                  <a:schemeClr val="bg1"/>
                </a:solidFill>
              </a:rPr>
              <a:t>1. </a:t>
            </a:r>
            <a:r>
              <a:rPr lang="fr-FR" b="1" dirty="0" err="1">
                <a:solidFill>
                  <a:schemeClr val="bg1"/>
                </a:solidFill>
              </a:rPr>
              <a:t>Predictive</a:t>
            </a:r>
            <a:r>
              <a:rPr lang="fr-FR" b="1" dirty="0">
                <a:solidFill>
                  <a:schemeClr val="bg1"/>
                </a:solidFill>
              </a:rPr>
              <a:t> Performance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Weighted </a:t>
            </a:r>
            <a:r>
              <a:rPr lang="en-US" dirty="0" err="1">
                <a:solidFill>
                  <a:schemeClr val="bg1"/>
                </a:solidFill>
              </a:rPr>
              <a:t>XGBoost</a:t>
            </a:r>
            <a:r>
              <a:rPr lang="en-US" dirty="0">
                <a:solidFill>
                  <a:schemeClr val="bg1"/>
                </a:solidFill>
              </a:rPr>
              <a:t> achieved an F1-score of </a:t>
            </a:r>
            <a:r>
              <a:rPr lang="en-US" b="1" dirty="0">
                <a:solidFill>
                  <a:schemeClr val="bg1"/>
                </a:solidFill>
              </a:rPr>
              <a:t>0.5457</a:t>
            </a:r>
            <a:r>
              <a:rPr lang="en-US" dirty="0">
                <a:solidFill>
                  <a:schemeClr val="bg1"/>
                </a:solidFill>
              </a:rPr>
              <a:t>, Recall of </a:t>
            </a:r>
            <a:r>
              <a:rPr lang="en-US" b="1" dirty="0">
                <a:solidFill>
                  <a:schemeClr val="bg1"/>
                </a:solidFill>
              </a:rPr>
              <a:t>57.12%</a:t>
            </a:r>
            <a:r>
              <a:rPr lang="en-US" dirty="0">
                <a:solidFill>
                  <a:schemeClr val="bg1"/>
                </a:solidFill>
              </a:rPr>
              <a:t>, and ROC-AUC of </a:t>
            </a:r>
            <a:r>
              <a:rPr lang="en-US" b="1" dirty="0">
                <a:solidFill>
                  <a:schemeClr val="bg1"/>
                </a:solidFill>
              </a:rPr>
              <a:t>0.7818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b="1" dirty="0">
                <a:solidFill>
                  <a:schemeClr val="bg1"/>
                </a:solidFill>
              </a:rPr>
              <a:t>2. Business Impact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Class weighting identified </a:t>
            </a:r>
            <a:r>
              <a:rPr lang="en-US" b="1" dirty="0">
                <a:solidFill>
                  <a:schemeClr val="bg1"/>
                </a:solidFill>
              </a:rPr>
              <a:t>263 additional actual defaults</a:t>
            </a:r>
            <a:r>
              <a:rPr lang="en-US" dirty="0">
                <a:solidFill>
                  <a:schemeClr val="bg1"/>
                </a:solidFill>
              </a:rPr>
              <a:t>, reducing illustrative error costs by </a:t>
            </a:r>
            <a:r>
              <a:rPr lang="en-US" b="1" dirty="0">
                <a:solidFill>
                  <a:schemeClr val="bg1"/>
                </a:solidFill>
              </a:rPr>
              <a:t>€240.6k</a:t>
            </a:r>
            <a:r>
              <a:rPr lang="en-US" dirty="0">
                <a:solidFill>
                  <a:schemeClr val="bg1"/>
                </a:solidFill>
              </a:rPr>
              <a:t> under the stated assumptions.</a:t>
            </a:r>
          </a:p>
          <a:p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b="1" dirty="0">
                <a:solidFill>
                  <a:schemeClr val="bg1"/>
                </a:solidFill>
              </a:rPr>
              <a:t>3. Risk Management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Risk-based ranking identified 361 actual defaults among the top 500 customers, improving review prioritization.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577900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34272" y="600760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dirty="0">
                <a:solidFill>
                  <a:srgbClr val="8EE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1FD05352-2FED-4509-85B4-5E16429284F3}"/>
              </a:ext>
            </a:extLst>
          </p:cNvPr>
          <p:cNvSpPr/>
          <p:nvPr/>
        </p:nvSpPr>
        <p:spPr>
          <a:xfrm>
            <a:off x="1343828" y="1314450"/>
            <a:ext cx="3583771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</a:rPr>
              <a:t>KEY FINDINGS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1113</Words>
  <Application>Microsoft Office PowerPoint</Application>
  <PresentationFormat>Grand écran</PresentationFormat>
  <Paragraphs>194</Paragraphs>
  <Slides>10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Georgia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Default Risk Analysis and Prediction</dc:title>
  <dc:subject>Credit Card Default Risk Analysis and Prediction</dc:subject>
  <dc:creator>ML Project Presentation</dc:creator>
  <cp:lastModifiedBy>Ailixier Kuerban</cp:lastModifiedBy>
  <cp:revision>28</cp:revision>
  <dcterms:created xsi:type="dcterms:W3CDTF">2026-10-26T20:57:34Z</dcterms:created>
  <dcterms:modified xsi:type="dcterms:W3CDTF">2026-10-27T23:07:40Z</dcterms:modified>
</cp:coreProperties>
</file>